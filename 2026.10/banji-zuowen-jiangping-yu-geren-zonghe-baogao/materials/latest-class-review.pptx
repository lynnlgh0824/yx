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73f3eadcd34e66" /><Relationship Type="http://schemas.openxmlformats.org/officeDocument/2006/relationships/extended-properties" Target="/docProps/app.xml" Id="R7f963952d7f94f22" /><Relationship Type="http://schemas.openxmlformats.org/officeDocument/2006/relationships/officeDocument" Target="/ppt/presentation.xml" Id="Rdf4db3a9d7704734" /></Relationships>
</file>

<file path=ppt/presentation.xml><?xml version="1.0" encoding="utf-8"?>
<p:presentation xmlns:p="http://schemas.openxmlformats.org/presentationml/2006/main">
  <p:sldMasterIdLst>
    <p:sldMasterId xmlns:r="http://schemas.openxmlformats.org/officeDocument/2006/relationships" id="2147483648" r:id="R8c0530fcbfef4fc5"/>
  </p:sldMasterIdLst>
  <p:notesMasterIdLst>
    <p:notesMasterId xmlns:r="http://schemas.openxmlformats.org/officeDocument/2006/relationships" r:id="Re161c99432c248f2"/>
  </p:notesMasterIdLst>
  <p:sldIdLst>
    <p:sldId xmlns:r="http://schemas.openxmlformats.org/officeDocument/2006/relationships" id="256" r:id="R3089a889185c4708"/>
    <p:sldId xmlns:r="http://schemas.openxmlformats.org/officeDocument/2006/relationships" id="257" r:id="R349360e147574d58"/>
    <p:sldId xmlns:r="http://schemas.openxmlformats.org/officeDocument/2006/relationships" id="258" r:id="R922cd96db4954fcd"/>
    <p:sldId xmlns:r="http://schemas.openxmlformats.org/officeDocument/2006/relationships" id="259" r:id="R98885dae8b034060"/>
    <p:sldId xmlns:r="http://schemas.openxmlformats.org/officeDocument/2006/relationships" id="260" r:id="R7429beac865c44c5"/>
    <p:sldId xmlns:r="http://schemas.openxmlformats.org/officeDocument/2006/relationships" id="261" r:id="Re3d82c05682541f7"/>
    <p:sldId xmlns:r="http://schemas.openxmlformats.org/officeDocument/2006/relationships" id="262" r:id="R90682e20c62c41da"/>
    <p:sldId xmlns:r="http://schemas.openxmlformats.org/officeDocument/2006/relationships" id="263" r:id="R97da872bda43486f"/>
    <p:sldId xmlns:r="http://schemas.openxmlformats.org/officeDocument/2006/relationships" id="264" r:id="R61812070388341e9"/>
    <p:sldId xmlns:r="http://schemas.openxmlformats.org/officeDocument/2006/relationships" id="265" r:id="Rb5b2a4bda10f45b3"/>
    <p:sldId xmlns:r="http://schemas.openxmlformats.org/officeDocument/2006/relationships" id="266" r:id="R96d46afa11df4f8c"/>
    <p:sldId xmlns:r="http://schemas.openxmlformats.org/officeDocument/2006/relationships" id="267" r:id="R5760dee245694e1a"/>
    <p:sldId xmlns:r="http://schemas.openxmlformats.org/officeDocument/2006/relationships" id="268" r:id="R9ca9cdd01f1d4457"/>
    <p:sldId xmlns:r="http://schemas.openxmlformats.org/officeDocument/2006/relationships" id="269" r:id="Rbd5893552a4342e4"/>
    <p:sldId xmlns:r="http://schemas.openxmlformats.org/officeDocument/2006/relationships" id="270" r:id="Re4100b6d79b04d66"/>
    <p:sldId xmlns:r="http://schemas.openxmlformats.org/officeDocument/2006/relationships" id="271" r:id="R48a32a4790fc4829"/>
    <p:sldId xmlns:r="http://schemas.openxmlformats.org/officeDocument/2006/relationships" id="272" r:id="R9373b98a7ff246ce"/>
    <p:sldId xmlns:r="http://schemas.openxmlformats.org/officeDocument/2006/relationships" id="273" r:id="Rd2d5d570ff854674"/>
    <p:sldId xmlns:r="http://schemas.openxmlformats.org/officeDocument/2006/relationships" id="274" r:id="Re056e12092b849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56bf7910484e5d" /><Relationship Type="http://schemas.openxmlformats.org/officeDocument/2006/relationships/slideMaster" Target="/ppt/slideMasters/slideMaster1.xml" Id="R8c0530fcbfef4fc5" /><Relationship Type="http://schemas.openxmlformats.org/officeDocument/2006/relationships/notesMaster" Target="/ppt/notesMasters/notesMaster1.xml" Id="Re161c99432c248f2" /><Relationship Type="http://schemas.openxmlformats.org/officeDocument/2006/relationships/presProps" Target="/ppt/presProps.xml" Id="R000f1ef3278c4784" /><Relationship Type="http://schemas.openxmlformats.org/officeDocument/2006/relationships/tableStyles" Target="/ppt/tableStyles.xml" Id="Rc199fe3a4f264cd4" /><Relationship Type="http://schemas.openxmlformats.org/officeDocument/2006/relationships/slide" Target="/ppt/slides/slide1.xml" Id="R3089a889185c4708" /><Relationship Type="http://schemas.openxmlformats.org/officeDocument/2006/relationships/slide" Target="/ppt/slides/slide2.xml" Id="R349360e147574d58" /><Relationship Type="http://schemas.openxmlformats.org/officeDocument/2006/relationships/slide" Target="/ppt/slides/slide3.xml" Id="R922cd96db4954fcd" /><Relationship Type="http://schemas.openxmlformats.org/officeDocument/2006/relationships/slide" Target="/ppt/slides/slide4.xml" Id="R98885dae8b034060" /><Relationship Type="http://schemas.openxmlformats.org/officeDocument/2006/relationships/slide" Target="/ppt/slides/slide5.xml" Id="R7429beac865c44c5" /><Relationship Type="http://schemas.openxmlformats.org/officeDocument/2006/relationships/slide" Target="/ppt/slides/slide6.xml" Id="Re3d82c05682541f7" /><Relationship Type="http://schemas.openxmlformats.org/officeDocument/2006/relationships/slide" Target="/ppt/slides/slide7.xml" Id="R90682e20c62c41da" /><Relationship Type="http://schemas.openxmlformats.org/officeDocument/2006/relationships/slide" Target="/ppt/slides/slide8.xml" Id="R97da872bda43486f" /><Relationship Type="http://schemas.openxmlformats.org/officeDocument/2006/relationships/slide" Target="/ppt/slides/slide9.xml" Id="R61812070388341e9" /><Relationship Type="http://schemas.openxmlformats.org/officeDocument/2006/relationships/slide" Target="/ppt/slides/slide10.xml" Id="Rb5b2a4bda10f45b3" /><Relationship Type="http://schemas.openxmlformats.org/officeDocument/2006/relationships/slide" Target="/ppt/slides/slide11.xml" Id="R96d46afa11df4f8c" /><Relationship Type="http://schemas.openxmlformats.org/officeDocument/2006/relationships/slide" Target="/ppt/slides/slide12.xml" Id="R5760dee245694e1a" /><Relationship Type="http://schemas.openxmlformats.org/officeDocument/2006/relationships/slide" Target="/ppt/slides/slide13.xml" Id="R9ca9cdd01f1d4457" /><Relationship Type="http://schemas.openxmlformats.org/officeDocument/2006/relationships/slide" Target="/ppt/slides/slide14.xml" Id="Rbd5893552a4342e4" /><Relationship Type="http://schemas.openxmlformats.org/officeDocument/2006/relationships/slide" Target="/ppt/slides/slide15.xml" Id="Re4100b6d79b04d66" /><Relationship Type="http://schemas.openxmlformats.org/officeDocument/2006/relationships/slide" Target="/ppt/slides/slide16.xml" Id="R48a32a4790fc4829" /><Relationship Type="http://schemas.openxmlformats.org/officeDocument/2006/relationships/slide" Target="/ppt/slides/slide17.xml" Id="R9373b98a7ff246ce" /><Relationship Type="http://schemas.openxmlformats.org/officeDocument/2006/relationships/slide" Target="/ppt/slides/slide18.xml" Id="Rd2d5d570ff854674" /><Relationship Type="http://schemas.openxmlformats.org/officeDocument/2006/relationships/slide" Target="/ppt/slides/slide19.xml" Id="Re056e12092b849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110628dc434a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9cfa02407a4356" /><Relationship Type="http://schemas.openxmlformats.org/officeDocument/2006/relationships/notesMaster" Target="/ppt/notesMasters/notesMaster1.xml" Id="R502973e9b2e94e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cf5283bb504281" /><Relationship Type="http://schemas.openxmlformats.org/officeDocument/2006/relationships/notesMaster" Target="/ppt/notesMasters/notesMaster1.xml" Id="R17c4b268e44044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89f9d3a44b4421" /><Relationship Type="http://schemas.openxmlformats.org/officeDocument/2006/relationships/notesMaster" Target="/ppt/notesMasters/notesMaster1.xml" Id="R1978a7c22c764c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59a1f15b974cd7" /><Relationship Type="http://schemas.openxmlformats.org/officeDocument/2006/relationships/notesMaster" Target="/ppt/notesMasters/notesMaster1.xml" Id="Rf2b7ea0210bf45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745965047b4018" /><Relationship Type="http://schemas.openxmlformats.org/officeDocument/2006/relationships/notesMaster" Target="/ppt/notesMasters/notesMaster1.xml" Id="R293777e4a5a343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ef40b70a534da8" /><Relationship Type="http://schemas.openxmlformats.org/officeDocument/2006/relationships/notesMaster" Target="/ppt/notesMasters/notesMaster1.xml" Id="R3e63c02d692945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a8ed96b0f54dc0" /><Relationship Type="http://schemas.openxmlformats.org/officeDocument/2006/relationships/notesMaster" Target="/ppt/notesMasters/notesMaster1.xml" Id="Rc1f13ea755934d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fc19609d96494f" /><Relationship Type="http://schemas.openxmlformats.org/officeDocument/2006/relationships/notesMaster" Target="/ppt/notesMasters/notesMaster1.xml" Id="Rc96eba1ccaef4d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756e7593a44fe0" /><Relationship Type="http://schemas.openxmlformats.org/officeDocument/2006/relationships/notesMaster" Target="/ppt/notesMasters/notesMaster1.xml" Id="Rf46a98b79ab542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49426dbf6e4419" /><Relationship Type="http://schemas.openxmlformats.org/officeDocument/2006/relationships/notesMaster" Target="/ppt/notesMasters/notesMaster1.xml" Id="R2add6fb19a684c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7a5ddf18814ded" /><Relationship Type="http://schemas.openxmlformats.org/officeDocument/2006/relationships/notesMaster" Target="/ppt/notesMasters/notesMaster1.xml" Id="R948951b0045b45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734cd73f1a4c69" /><Relationship Type="http://schemas.openxmlformats.org/officeDocument/2006/relationships/notesMaster" Target="/ppt/notesMasters/notesMaster1.xml" Id="R540d7df54c6b40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cd22acc6444837" /><Relationship Type="http://schemas.openxmlformats.org/officeDocument/2006/relationships/notesMaster" Target="/ppt/notesMasters/notesMaster1.xml" Id="R4a00bd4a1ac34d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e649c5554d4b37" /><Relationship Type="http://schemas.openxmlformats.org/officeDocument/2006/relationships/notesMaster" Target="/ppt/notesMasters/notesMaster1.xml" Id="R73a0db74f2d547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f4eae6bd6274d31" /><Relationship Type="http://schemas.openxmlformats.org/officeDocument/2006/relationships/notesMaster" Target="/ppt/notesMasters/notesMaster1.xml" Id="R31e1d09941434d6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7c2c6b5cce4a70" /><Relationship Type="http://schemas.openxmlformats.org/officeDocument/2006/relationships/notesMaster" Target="/ppt/notesMasters/notesMaster1.xml" Id="Rb4cf5a03166b4cd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3690a42da6a4383" /><Relationship Type="http://schemas.openxmlformats.org/officeDocument/2006/relationships/notesMaster" Target="/ppt/notesMasters/notesMaster1.xml" Id="R19ce56d255664fa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1f2cc9dc5d4e53" /><Relationship Type="http://schemas.openxmlformats.org/officeDocument/2006/relationships/notesMaster" Target="/ppt/notesMasters/notesMaster1.xml" Id="Ra3eb05066b224bc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b4e112b1fd4943" /><Relationship Type="http://schemas.openxmlformats.org/officeDocument/2006/relationships/notesMaster" Target="/ppt/notesMasters/notesMaster1.xml" Id="Re5461f37f1324c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0302c3efd546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833d380d0748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46d8624296b48b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ba9279a7c340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43e82ecee44d2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708aabb50444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1838B0-2816-4181-A690-7412047CF9B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4DD230F-4BCF-4548-BE79-5E06F651DC0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32954E-4CEB-4700-AC25-5F624545993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837E7D-8391-4BE8-9375-6B5BC3EE84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358534-12C6-454B-A8B3-7E669D6417D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29BCB8-71EA-48AB-BFD8-99A4755A9C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B88CBF-91FE-4514-AC39-E86838FB6B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69BCB1-CA8D-466E-87A5-C8CC823A3CC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13C28A-6AD1-43C1-A142-B27911D6BA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F218B5-771F-44CE-976F-B90C00E035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993e0d7e7048a2" /><Relationship Type="http://schemas.openxmlformats.org/officeDocument/2006/relationships/slideLayout" Target="/ppt/slideLayouts/slideLayout1.xml" Id="Rc4d78e6edff24411" /><Relationship Type="http://schemas.openxmlformats.org/officeDocument/2006/relationships/slideLayout" Target="/ppt/slideLayouts/slideLayout2.xml" Id="Reca00fc54d3a4fa4" /><Relationship Type="http://schemas.openxmlformats.org/officeDocument/2006/relationships/slideLayout" Target="/ppt/slideLayouts/slideLayout3.xml" Id="R911ec01621584832" /><Relationship Type="http://schemas.openxmlformats.org/officeDocument/2006/relationships/slideLayout" Target="/ppt/slideLayouts/slideLayout4.xml" Id="R1eb3d26f60d84b0c" /><Relationship Type="http://schemas.openxmlformats.org/officeDocument/2006/relationships/slideLayout" Target="/ppt/slideLayouts/slideLayout5.xml" Id="R8b3bbc4afb8c4550" /><Relationship Type="http://schemas.openxmlformats.org/officeDocument/2006/relationships/slideLayout" Target="/ppt/slideLayouts/slideLayout6.xml" Id="R29d82a962cab49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d78e6edff24411"/>
    <p:sldLayoutId xmlns:r="http://schemas.openxmlformats.org/officeDocument/2006/relationships" id="2147483650" r:id="Reca00fc54d3a4fa4"/>
    <p:sldLayoutId xmlns:r="http://schemas.openxmlformats.org/officeDocument/2006/relationships" id="2147483651" r:id="R911ec01621584832"/>
    <p:sldLayoutId xmlns:r="http://schemas.openxmlformats.org/officeDocument/2006/relationships" id="2147483652" r:id="R1eb3d26f60d84b0c"/>
    <p:sldLayoutId xmlns:r="http://schemas.openxmlformats.org/officeDocument/2006/relationships" id="2147483653" r:id="R8b3bbc4afb8c4550"/>
    <p:sldLayoutId xmlns:r="http://schemas.openxmlformats.org/officeDocument/2006/relationships" id="2147483654" r:id="R29d82a962cab49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bcdb3e41d94edb" /><Relationship Type="http://schemas.openxmlformats.org/officeDocument/2006/relationships/notesSlide" Target="/ppt/notesSlides/notesSlide1.xml" Id="Rf9f3d5ded2bf4c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72448a2f5d94bc0" /><Relationship Type="http://schemas.openxmlformats.org/officeDocument/2006/relationships/notesSlide" Target="/ppt/notesSlides/notesSlide2.xml" Id="R117517f9f48148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e54e22075e44934" /><Relationship Type="http://schemas.openxmlformats.org/officeDocument/2006/relationships/notesSlide" Target="/ppt/notesSlides/notesSlide3.xml" Id="Rf52dc173dc3149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35e73dc68f4161" /><Relationship Type="http://schemas.openxmlformats.org/officeDocument/2006/relationships/notesSlide" Target="/ppt/notesSlides/notesSlide4.xml" Id="R2bec90ae0dc743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2a73c4a179a49d6" /><Relationship Type="http://schemas.openxmlformats.org/officeDocument/2006/relationships/notesSlide" Target="/ppt/notesSlides/notesSlide5.xml" Id="R7914e84e300344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35d7ec947234378" /><Relationship Type="http://schemas.openxmlformats.org/officeDocument/2006/relationships/notesSlide" Target="/ppt/notesSlides/notesSlide6.xml" Id="R9492c19eb01d4d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9e18daa563b4500" /><Relationship Type="http://schemas.openxmlformats.org/officeDocument/2006/relationships/notesSlide" Target="/ppt/notesSlides/notesSlide7.xml" Id="R70f35267d3c742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ed18ec89c1445cf" /><Relationship Type="http://schemas.openxmlformats.org/officeDocument/2006/relationships/notesSlide" Target="/ppt/notesSlides/notesSlide8.xml" Id="R3e2ea9647b3f44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07bea26a2241c8" /><Relationship Type="http://schemas.openxmlformats.org/officeDocument/2006/relationships/notesSlide" Target="/ppt/notesSlides/notesSlide9.xml" Id="R9fb07847093a48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36ad15edb7c4f82" /><Relationship Type="http://schemas.openxmlformats.org/officeDocument/2006/relationships/notesSlide" Target="/ppt/notesSlides/notesSlide10.xml" Id="Ra50bbaa79c2542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a6acf877f4348a7" /><Relationship Type="http://schemas.openxmlformats.org/officeDocument/2006/relationships/notesSlide" Target="/ppt/notesSlides/notesSlide11.xml" Id="R3436c224787a47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92d21e5daba4480" /><Relationship Type="http://schemas.openxmlformats.org/officeDocument/2006/relationships/notesSlide" Target="/ppt/notesSlides/notesSlide12.xml" Id="R425b2ef441e347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1ff4cfa091e4569" /><Relationship Type="http://schemas.openxmlformats.org/officeDocument/2006/relationships/notesSlide" Target="/ppt/notesSlides/notesSlide13.xml" Id="R58a188ba9b0946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a26368532f54c46" /><Relationship Type="http://schemas.openxmlformats.org/officeDocument/2006/relationships/notesSlide" Target="/ppt/notesSlides/notesSlide14.xml" Id="R78f5dc0523da4d9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8d51335deae4a75" /><Relationship Type="http://schemas.openxmlformats.org/officeDocument/2006/relationships/notesSlide" Target="/ppt/notesSlides/notesSlide15.xml" Id="Rb16a9f657f2b4ee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0bcd9ef32774b5f" /><Relationship Type="http://schemas.openxmlformats.org/officeDocument/2006/relationships/notesSlide" Target="/ppt/notesSlides/notesSlide16.xml" Id="R2d278a02ed7b41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5bbc92f02674153" /><Relationship Type="http://schemas.openxmlformats.org/officeDocument/2006/relationships/notesSlide" Target="/ppt/notesSlides/notesSlide17.xml" Id="R5ff89be790414e2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25f3a441d424cf2" /><Relationship Type="http://schemas.openxmlformats.org/officeDocument/2006/relationships/notesSlide" Target="/ppt/notesSlides/notesSlide18.xml" Id="R64df27a3216e4de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955443b517a4fef" /><Relationship Type="http://schemas.openxmlformats.org/officeDocument/2006/relationships/notesSlide" Target="/ppt/notesSlides/notesSlide19.xml" Id="R011f4f1cca2f47a9" /></Relationships>
</file>

<file path=ppt/slides/slide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BC7E1A-928B-4861-A582-5E9E933B6A4A}"/>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中文科寫作｜課堂講評</a:t>
            </a:r>
          </a:p>
        </p:txBody>
      </p:sp>
      <p:sp>
        <p:nvSpPr>
          <p:cNvPr id="2" name="">
            <a:extLst xmlns:a="http://schemas.openxmlformats.org/drawingml/2006/main">
              <a:ext uri="{FF2B5EF4-FFF2-40B4-BE49-F238E27FC236}">
                <a16:creationId xmlns:a16="http://schemas.microsoft.com/office/drawing/2014/main" id="{2E5C0879-6103-4858-A99A-5CCAACBDA321}"/>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0">
                <a:solidFill>
                  <a:srgbClr val="233441"/>
                </a:solidFill>
                <a:latin typeface="Arial Unicode MS"/>
                <a:ea typeface="Arial Unicode MS"/>
                <a:cs typeface="Arial Unicode MS"/>
              </a:defRPr>
            </a:defPPr>
          </a:lstStyle>
          <a:p xmlns:a="http://schemas.openxmlformats.org/drawingml/2006/main">
            <a:pPr>
              <a:defRPr sz="4050" b="0">
                <a:solidFill>
                  <a:srgbClr val="233441"/>
                </a:solidFill>
                <a:latin typeface="Arial Unicode MS"/>
                <a:ea typeface="Arial Unicode MS"/>
                <a:cs typeface="Arial Unicode MS"/>
              </a:defRPr>
            </a:pPr>
            <a:r>
              <a:rPr sz="4050" b="0">
                <a:solidFill>
                  <a:srgbClr val="233441"/>
                </a:solidFill>
                <a:latin typeface="Arial Unicode MS"/>
                <a:ea typeface="Arial Unicode MS"/>
                <a:cs typeface="Arial Unicode MS"/>
              </a:rPr>
              <a:t>我最喜歡的故事人物</a:t>
            </a:r>
          </a:p>
        </p:txBody>
      </p:sp>
      <p:sp>
        <p:nvSpPr>
          <p:cNvPr id="3" name="">
            <a:extLst xmlns:a="http://schemas.openxmlformats.org/drawingml/2006/main">
              <a:ext uri="{FF2B5EF4-FFF2-40B4-BE49-F238E27FC236}">
                <a16:creationId xmlns:a16="http://schemas.microsoft.com/office/drawing/2014/main" id="{A63A0056-7DC0-432F-A0E0-2D4D6EABFB12}"/>
              </a:ext>
            </a:extLst>
          </p:cNvPr>
          <p:cNvSpPr>
            <a:spLocks xmlns:a="http://schemas.openxmlformats.org/drawingml/2006/main" noGrp="1"/>
          </p:cNvSpPr>
          <p:nvPr/>
        </p:nvSpPr>
        <p:spPr>
          <a:xfrm xmlns:a="http://schemas.openxmlformats.org/drawingml/2006/main">
            <a:off x="609600" y="3143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126D73"/>
                </a:solidFill>
                <a:latin typeface="Arial Unicode MS"/>
                <a:ea typeface="Arial Unicode MS"/>
                <a:cs typeface="Arial Unicode MS"/>
              </a:defRPr>
            </a:defPPr>
          </a:lstStyle>
          <a:p xmlns:a="http://schemas.openxmlformats.org/drawingml/2006/main">
            <a:pPr>
              <a:defRPr sz="2850" b="0">
                <a:solidFill>
                  <a:srgbClr val="126D73"/>
                </a:solidFill>
                <a:latin typeface="Arial Unicode MS"/>
                <a:ea typeface="Arial Unicode MS"/>
                <a:cs typeface="Arial Unicode MS"/>
              </a:defRPr>
            </a:pPr>
            <a:r>
              <a:rPr sz="2850" b="0">
                <a:solidFill>
                  <a:srgbClr val="126D73"/>
                </a:solidFill>
                <a:latin typeface="Arial Unicode MS"/>
                <a:ea typeface="Arial Unicode MS"/>
                <a:cs typeface="Arial Unicode MS"/>
              </a:rPr>
              <a:t>作文講評</a:t>
            </a:r>
          </a:p>
        </p:txBody>
      </p:sp>
      <p:sp>
        <p:nvSpPr>
          <p:cNvPr id="4" name="">
            <a:extLst xmlns:a="http://schemas.openxmlformats.org/drawingml/2006/main">
              <a:ext uri="{FF2B5EF4-FFF2-40B4-BE49-F238E27FC236}">
                <a16:creationId xmlns:a16="http://schemas.microsoft.com/office/drawing/2014/main" id="{D325630B-3D32-435D-BD15-34EF06030CA7}"/>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5" name="">
            <a:extLst xmlns:a="http://schemas.openxmlformats.org/drawingml/2006/main">
              <a:ext uri="{FF2B5EF4-FFF2-40B4-BE49-F238E27FC236}">
                <a16:creationId xmlns:a16="http://schemas.microsoft.com/office/drawing/2014/main" id="{5E2C7BAD-6AAE-462C-AE95-A25F8BB4FBC1}"/>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01／19</a:t>
            </a:r>
          </a:p>
        </p:txBody>
      </p:sp>
    </p:spTree>
    <p:extLst>
      <p:ext uri="{BB962C8B-B14F-4D97-AF65-F5344CB8AC3E}">
        <p14:creationId xmlns:p14="http://schemas.microsoft.com/office/powerpoint/2010/main" val="1077969197"/>
      </p:ext>
    </p:extLst>
  </p:cSld>
</p:sld>
</file>

<file path=ppt/slides/slide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40FADB-2475-431E-B3BD-6FFD8C0220D0}"/>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目錄</a:t>
            </a:r>
          </a:p>
        </p:txBody>
      </p:sp>
      <p:sp>
        <p:nvSpPr>
          <p:cNvPr id="2" name="">
            <a:extLst xmlns:a="http://schemas.openxmlformats.org/drawingml/2006/main">
              <a:ext uri="{FF2B5EF4-FFF2-40B4-BE49-F238E27FC236}">
                <a16:creationId xmlns:a16="http://schemas.microsoft.com/office/drawing/2014/main" id="{7F8E3793-6D34-4838-A1B0-EA939581EC6D}"/>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本次課堂講評</a:t>
            </a:r>
          </a:p>
        </p:txBody>
      </p:sp>
      <p:sp>
        <p:nvSpPr>
          <p:cNvPr id="3" name="">
            <a:extLst xmlns:a="http://schemas.openxmlformats.org/drawingml/2006/main">
              <a:ext uri="{FF2B5EF4-FFF2-40B4-BE49-F238E27FC236}">
                <a16:creationId xmlns:a16="http://schemas.microsoft.com/office/drawing/2014/main" id="{0FBDDFC4-98ED-4136-92D2-CC349232B28A}"/>
              </a:ext>
            </a:extLst>
          </p:cNvPr>
          <p:cNvSpPr>
            <a:spLocks xmlns:a="http://schemas.openxmlformats.org/drawingml/2006/main" noGrp="1"/>
          </p:cNvSpPr>
          <p:nvPr/>
        </p:nvSpPr>
        <p:spPr>
          <a:xfrm xmlns:a="http://schemas.openxmlformats.org/drawingml/2006/main">
            <a:off x="609600" y="1809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441"/>
                </a:solidFill>
                <a:latin typeface="Arial Unicode MS"/>
                <a:ea typeface="Arial Unicode MS"/>
                <a:cs typeface="Arial Unicode MS"/>
              </a:defRPr>
            </a:defPPr>
          </a:lstStyle>
          <a:p xmlns:a="http://schemas.openxmlformats.org/drawingml/2006/main">
            <a:pPr>
              <a:defRPr sz="2175" b="0">
                <a:solidFill>
                  <a:srgbClr val="233441"/>
                </a:solidFill>
                <a:latin typeface="Arial Unicode MS"/>
                <a:ea typeface="Arial Unicode MS"/>
                <a:cs typeface="Arial Unicode MS"/>
              </a:defRPr>
            </a:pPr>
            <a:r>
              <a:rPr sz="2175" b="0">
                <a:solidFill>
                  <a:srgbClr val="233441"/>
                </a:solidFill>
                <a:latin typeface="Arial Unicode MS"/>
                <a:ea typeface="Arial Unicode MS"/>
                <a:cs typeface="Arial Unicode MS"/>
              </a:rPr>
              <a:t>01　寫作要求</a:t>
            </a:r>
          </a:p>
        </p:txBody>
      </p:sp>
      <p:sp>
        <p:nvSpPr>
          <p:cNvPr id="4" name="">
            <a:extLst xmlns:a="http://schemas.openxmlformats.org/drawingml/2006/main">
              <a:ext uri="{FF2B5EF4-FFF2-40B4-BE49-F238E27FC236}">
                <a16:creationId xmlns:a16="http://schemas.microsoft.com/office/drawing/2014/main" id="{AB510F7A-A04D-41F2-93FB-E557766D7672}"/>
              </a:ext>
            </a:extLst>
          </p:cNvPr>
          <p:cNvSpPr>
            <a:spLocks xmlns:a="http://schemas.openxmlformats.org/drawingml/2006/main" noGrp="1"/>
          </p:cNvSpPr>
          <p:nvPr/>
        </p:nvSpPr>
        <p:spPr>
          <a:xfrm xmlns:a="http://schemas.openxmlformats.org/drawingml/2006/main">
            <a:off x="609600" y="23907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441"/>
                </a:solidFill>
                <a:latin typeface="Arial Unicode MS"/>
                <a:ea typeface="Arial Unicode MS"/>
                <a:cs typeface="Arial Unicode MS"/>
              </a:defRPr>
            </a:defPPr>
          </a:lstStyle>
          <a:p xmlns:a="http://schemas.openxmlformats.org/drawingml/2006/main">
            <a:pPr>
              <a:defRPr sz="2175" b="0">
                <a:solidFill>
                  <a:srgbClr val="233441"/>
                </a:solidFill>
                <a:latin typeface="Arial Unicode MS"/>
                <a:ea typeface="Arial Unicode MS"/>
                <a:cs typeface="Arial Unicode MS"/>
              </a:defRPr>
            </a:pPr>
            <a:r>
              <a:rPr sz="2175" b="0">
                <a:solidFill>
                  <a:srgbClr val="233441"/>
                </a:solidFill>
                <a:latin typeface="Arial Unicode MS"/>
                <a:ea typeface="Arial Unicode MS"/>
                <a:cs typeface="Arial Unicode MS"/>
              </a:rPr>
              <a:t>02　班級概覽</a:t>
            </a:r>
          </a:p>
        </p:txBody>
      </p:sp>
      <p:sp>
        <p:nvSpPr>
          <p:cNvPr id="5" name="">
            <a:extLst xmlns:a="http://schemas.openxmlformats.org/drawingml/2006/main">
              <a:ext uri="{FF2B5EF4-FFF2-40B4-BE49-F238E27FC236}">
                <a16:creationId xmlns:a16="http://schemas.microsoft.com/office/drawing/2014/main" id="{CA50AB38-61E9-42EB-A561-74634136B85A}"/>
              </a:ext>
            </a:extLst>
          </p:cNvPr>
          <p:cNvSpPr>
            <a:spLocks xmlns:a="http://schemas.openxmlformats.org/drawingml/2006/main" noGrp="1"/>
          </p:cNvSpPr>
          <p:nvPr/>
        </p:nvSpPr>
        <p:spPr>
          <a:xfrm xmlns:a="http://schemas.openxmlformats.org/drawingml/2006/main">
            <a:off x="609600" y="29718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441"/>
                </a:solidFill>
                <a:latin typeface="Arial Unicode MS"/>
                <a:ea typeface="Arial Unicode MS"/>
                <a:cs typeface="Arial Unicode MS"/>
              </a:defRPr>
            </a:defPPr>
          </a:lstStyle>
          <a:p xmlns:a="http://schemas.openxmlformats.org/drawingml/2006/main">
            <a:pPr>
              <a:defRPr sz="2175" b="0">
                <a:solidFill>
                  <a:srgbClr val="233441"/>
                </a:solidFill>
                <a:latin typeface="Arial Unicode MS"/>
                <a:ea typeface="Arial Unicode MS"/>
                <a:cs typeface="Arial Unicode MS"/>
              </a:defRPr>
            </a:pPr>
            <a:r>
              <a:rPr sz="2175" b="0">
                <a:solidFill>
                  <a:srgbClr val="233441"/>
                </a:solidFill>
                <a:latin typeface="Arial Unicode MS"/>
                <a:ea typeface="Arial Unicode MS"/>
                <a:cs typeface="Arial Unicode MS"/>
              </a:rPr>
              <a:t>03　內容｜事例與個人體會</a:t>
            </a:r>
          </a:p>
        </p:txBody>
      </p:sp>
      <p:sp>
        <p:nvSpPr>
          <p:cNvPr id="6" name="">
            <a:extLst xmlns:a="http://schemas.openxmlformats.org/drawingml/2006/main">
              <a:ext uri="{FF2B5EF4-FFF2-40B4-BE49-F238E27FC236}">
                <a16:creationId xmlns:a16="http://schemas.microsoft.com/office/drawing/2014/main" id="{33F09017-18DC-4764-96D6-E0B4A79C0AC8}"/>
              </a:ext>
            </a:extLst>
          </p:cNvPr>
          <p:cNvSpPr>
            <a:spLocks xmlns:a="http://schemas.openxmlformats.org/drawingml/2006/main" noGrp="1"/>
          </p:cNvSpPr>
          <p:nvPr/>
        </p:nvSpPr>
        <p:spPr>
          <a:xfrm xmlns:a="http://schemas.openxmlformats.org/drawingml/2006/main">
            <a:off x="609600" y="35528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441"/>
                </a:solidFill>
                <a:latin typeface="Arial Unicode MS"/>
                <a:ea typeface="Arial Unicode MS"/>
                <a:cs typeface="Arial Unicode MS"/>
              </a:defRPr>
            </a:defPPr>
          </a:lstStyle>
          <a:p xmlns:a="http://schemas.openxmlformats.org/drawingml/2006/main">
            <a:pPr>
              <a:defRPr sz="2175" b="0">
                <a:solidFill>
                  <a:srgbClr val="233441"/>
                </a:solidFill>
                <a:latin typeface="Arial Unicode MS"/>
                <a:ea typeface="Arial Unicode MS"/>
                <a:cs typeface="Arial Unicode MS"/>
              </a:defRPr>
            </a:pPr>
            <a:r>
              <a:rPr sz="2175" b="0">
                <a:solidFill>
                  <a:srgbClr val="233441"/>
                </a:solidFill>
                <a:latin typeface="Arial Unicode MS"/>
                <a:ea typeface="Arial Unicode MS"/>
                <a:cs typeface="Arial Unicode MS"/>
              </a:rPr>
              <a:t>04　表達｜詞語、佳句與語句修訂</a:t>
            </a:r>
          </a:p>
        </p:txBody>
      </p:sp>
      <p:sp>
        <p:nvSpPr>
          <p:cNvPr id="7" name="">
            <a:extLst xmlns:a="http://schemas.openxmlformats.org/drawingml/2006/main">
              <a:ext uri="{FF2B5EF4-FFF2-40B4-BE49-F238E27FC236}">
                <a16:creationId xmlns:a16="http://schemas.microsoft.com/office/drawing/2014/main" id="{0F018799-A0F0-42F9-B831-357846A13B06}"/>
              </a:ext>
            </a:extLst>
          </p:cNvPr>
          <p:cNvSpPr>
            <a:spLocks xmlns:a="http://schemas.openxmlformats.org/drawingml/2006/main" noGrp="1"/>
          </p:cNvSpPr>
          <p:nvPr/>
        </p:nvSpPr>
        <p:spPr>
          <a:xfrm xmlns:a="http://schemas.openxmlformats.org/drawingml/2006/main">
            <a:off x="609600" y="41338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441"/>
                </a:solidFill>
                <a:latin typeface="Arial Unicode MS"/>
                <a:ea typeface="Arial Unicode MS"/>
                <a:cs typeface="Arial Unicode MS"/>
              </a:defRPr>
            </a:defPPr>
          </a:lstStyle>
          <a:p xmlns:a="http://schemas.openxmlformats.org/drawingml/2006/main">
            <a:pPr>
              <a:defRPr sz="2175" b="0">
                <a:solidFill>
                  <a:srgbClr val="233441"/>
                </a:solidFill>
                <a:latin typeface="Arial Unicode MS"/>
                <a:ea typeface="Arial Unicode MS"/>
                <a:cs typeface="Arial Unicode MS"/>
              </a:defRPr>
            </a:pPr>
            <a:r>
              <a:rPr sz="2175" b="0">
                <a:solidFill>
                  <a:srgbClr val="233441"/>
                </a:solidFill>
                <a:latin typeface="Arial Unicode MS"/>
                <a:ea typeface="Arial Unicode MS"/>
                <a:cs typeface="Arial Unicode MS"/>
              </a:rPr>
              <a:t>05　結構｜開頭、結尾與呼應</a:t>
            </a:r>
          </a:p>
        </p:txBody>
      </p:sp>
      <p:sp>
        <p:nvSpPr>
          <p:cNvPr id="8" name="">
            <a:extLst xmlns:a="http://schemas.openxmlformats.org/drawingml/2006/main">
              <a:ext uri="{FF2B5EF4-FFF2-40B4-BE49-F238E27FC236}">
                <a16:creationId xmlns:a16="http://schemas.microsoft.com/office/drawing/2014/main" id="{7F274534-BF30-444D-88F2-CFCD1C75C187}"/>
              </a:ext>
            </a:extLst>
          </p:cNvPr>
          <p:cNvSpPr>
            <a:spLocks xmlns:a="http://schemas.openxmlformats.org/drawingml/2006/main" noGrp="1"/>
          </p:cNvSpPr>
          <p:nvPr/>
        </p:nvSpPr>
        <p:spPr>
          <a:xfrm xmlns:a="http://schemas.openxmlformats.org/drawingml/2006/main">
            <a:off x="609600" y="47148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441"/>
                </a:solidFill>
                <a:latin typeface="Arial Unicode MS"/>
                <a:ea typeface="Arial Unicode MS"/>
                <a:cs typeface="Arial Unicode MS"/>
              </a:defRPr>
            </a:defPPr>
          </a:lstStyle>
          <a:p xmlns:a="http://schemas.openxmlformats.org/drawingml/2006/main">
            <a:pPr>
              <a:defRPr sz="2175" b="0">
                <a:solidFill>
                  <a:srgbClr val="233441"/>
                </a:solidFill>
                <a:latin typeface="Arial Unicode MS"/>
                <a:ea typeface="Arial Unicode MS"/>
                <a:cs typeface="Arial Unicode MS"/>
              </a:defRPr>
            </a:pPr>
            <a:r>
              <a:rPr sz="2175" b="0">
                <a:solidFill>
                  <a:srgbClr val="233441"/>
                </a:solidFill>
                <a:latin typeface="Arial Unicode MS"/>
                <a:ea typeface="Arial Unicode MS"/>
                <a:cs typeface="Arial Unicode MS"/>
              </a:rPr>
              <a:t>06　標點字體｜建議訂正</a:t>
            </a:r>
          </a:p>
        </p:txBody>
      </p:sp>
      <p:sp>
        <p:nvSpPr>
          <p:cNvPr id="9" name="">
            <a:extLst xmlns:a="http://schemas.openxmlformats.org/drawingml/2006/main">
              <a:ext uri="{FF2B5EF4-FFF2-40B4-BE49-F238E27FC236}">
                <a16:creationId xmlns:a16="http://schemas.microsoft.com/office/drawing/2014/main" id="{EC6B6204-6F3D-46DE-936C-B936CD31304D}"/>
              </a:ext>
            </a:extLst>
          </p:cNvPr>
          <p:cNvSpPr>
            <a:spLocks xmlns:a="http://schemas.openxmlformats.org/drawingml/2006/main" noGrp="1"/>
          </p:cNvSpPr>
          <p:nvPr/>
        </p:nvSpPr>
        <p:spPr>
          <a:xfrm xmlns:a="http://schemas.openxmlformats.org/drawingml/2006/main">
            <a:off x="609600" y="52959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441"/>
                </a:solidFill>
                <a:latin typeface="Arial Unicode MS"/>
                <a:ea typeface="Arial Unicode MS"/>
                <a:cs typeface="Arial Unicode MS"/>
              </a:defRPr>
            </a:defPPr>
          </a:lstStyle>
          <a:p xmlns:a="http://schemas.openxmlformats.org/drawingml/2006/main">
            <a:pPr>
              <a:defRPr sz="2175" b="0">
                <a:solidFill>
                  <a:srgbClr val="233441"/>
                </a:solidFill>
                <a:latin typeface="Arial Unicode MS"/>
                <a:ea typeface="Arial Unicode MS"/>
                <a:cs typeface="Arial Unicode MS"/>
              </a:defRPr>
            </a:pPr>
            <a:r>
              <a:rPr sz="2175" b="0">
                <a:solidFill>
                  <a:srgbClr val="233441"/>
                </a:solidFill>
                <a:latin typeface="Arial Unicode MS"/>
                <a:ea typeface="Arial Unicode MS"/>
                <a:cs typeface="Arial Unicode MS"/>
              </a:rPr>
              <a:t>07　作文選讀</a:t>
            </a:r>
          </a:p>
        </p:txBody>
      </p:sp>
      <p:sp>
        <p:nvSpPr>
          <p:cNvPr id="10" name="">
            <a:extLst xmlns:a="http://schemas.openxmlformats.org/drawingml/2006/main">
              <a:ext uri="{FF2B5EF4-FFF2-40B4-BE49-F238E27FC236}">
                <a16:creationId xmlns:a16="http://schemas.microsoft.com/office/drawing/2014/main" id="{3CC799E5-E67E-4A91-9D6A-D07C212470A0}"/>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11" name="">
            <a:extLst xmlns:a="http://schemas.openxmlformats.org/drawingml/2006/main">
              <a:ext uri="{FF2B5EF4-FFF2-40B4-BE49-F238E27FC236}">
                <a16:creationId xmlns:a16="http://schemas.microsoft.com/office/drawing/2014/main" id="{E75A00A1-75A2-4063-B501-EAE582E13437}"/>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02／19</a:t>
            </a:r>
          </a:p>
        </p:txBody>
      </p:sp>
    </p:spTree>
    <p:extLst>
      <p:ext uri="{BB962C8B-B14F-4D97-AF65-F5344CB8AC3E}">
        <p14:creationId xmlns:p14="http://schemas.microsoft.com/office/powerpoint/2010/main" val="1602299443"/>
      </p:ext>
    </p:extLst>
  </p:cSld>
</p:sld>
</file>

<file path=ppt/slides/slide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57C2EE-381D-4FF9-AB17-D8A1767E42B5}"/>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01　寫作要求</a:t>
            </a:r>
          </a:p>
        </p:txBody>
      </p:sp>
      <p:sp>
        <p:nvSpPr>
          <p:cNvPr id="2" name="">
            <a:extLst xmlns:a="http://schemas.openxmlformats.org/drawingml/2006/main">
              <a:ext uri="{FF2B5EF4-FFF2-40B4-BE49-F238E27FC236}">
                <a16:creationId xmlns:a16="http://schemas.microsoft.com/office/drawing/2014/main" id="{FF0323F3-765E-4382-8D13-D0B7989924D8}"/>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本次題目與寫作要求</a:t>
            </a:r>
          </a:p>
        </p:txBody>
      </p:sp>
      <p:sp>
        <p:nvSpPr>
          <p:cNvPr id="3" name="">
            <a:extLst xmlns:a="http://schemas.openxmlformats.org/drawingml/2006/main">
              <a:ext uri="{FF2B5EF4-FFF2-40B4-BE49-F238E27FC236}">
                <a16:creationId xmlns:a16="http://schemas.microsoft.com/office/drawing/2014/main" id="{CC0832F0-40BF-4874-A102-97021C2EC194}"/>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題目</a:t>
            </a:r>
          </a:p>
        </p:txBody>
      </p:sp>
      <p:sp>
        <p:nvSpPr>
          <p:cNvPr id="4" name="">
            <a:extLst xmlns:a="http://schemas.openxmlformats.org/drawingml/2006/main">
              <a:ext uri="{FF2B5EF4-FFF2-40B4-BE49-F238E27FC236}">
                <a16:creationId xmlns:a16="http://schemas.microsoft.com/office/drawing/2014/main" id="{F322384E-63C4-4E05-AB37-FDB51B153185}"/>
              </a:ext>
            </a:extLst>
          </p:cNvPr>
          <p:cNvSpPr>
            <a:spLocks xmlns:a="http://schemas.openxmlformats.org/drawingml/2006/main" noGrp="1"/>
          </p:cNvSpPr>
          <p:nvPr/>
        </p:nvSpPr>
        <p:spPr>
          <a:xfrm xmlns:a="http://schemas.openxmlformats.org/drawingml/2006/main">
            <a:off x="609600" y="2162175"/>
            <a:ext cx="10972800" cy="471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《我最喜歡的故事人物》</a:t>
            </a:r>
          </a:p>
        </p:txBody>
      </p:sp>
      <p:sp>
        <p:nvSpPr>
          <p:cNvPr id="5" name="">
            <a:extLst xmlns:a="http://schemas.openxmlformats.org/drawingml/2006/main">
              <a:ext uri="{FF2B5EF4-FFF2-40B4-BE49-F238E27FC236}">
                <a16:creationId xmlns:a16="http://schemas.microsoft.com/office/drawing/2014/main" id="{A1A0E6A8-18AF-47D2-BC20-EB78D69F25EB}"/>
              </a:ext>
            </a:extLst>
          </p:cNvPr>
          <p:cNvSpPr>
            <a:spLocks xmlns:a="http://schemas.openxmlformats.org/drawingml/2006/main" noGrp="1"/>
          </p:cNvSpPr>
          <p:nvPr/>
        </p:nvSpPr>
        <p:spPr>
          <a:xfrm xmlns:a="http://schemas.openxmlformats.org/drawingml/2006/main">
            <a:off x="609600" y="2824353"/>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寫作要求</a:t>
            </a:r>
          </a:p>
        </p:txBody>
      </p:sp>
      <p:sp>
        <p:nvSpPr>
          <p:cNvPr id="6" name="">
            <a:extLst xmlns:a="http://schemas.openxmlformats.org/drawingml/2006/main">
              <a:ext uri="{FF2B5EF4-FFF2-40B4-BE49-F238E27FC236}">
                <a16:creationId xmlns:a16="http://schemas.microsoft.com/office/drawing/2014/main" id="{35FDE0AE-6E31-456F-B8DE-E82D003FACFE}"/>
              </a:ext>
            </a:extLst>
          </p:cNvPr>
          <p:cNvSpPr>
            <a:spLocks xmlns:a="http://schemas.openxmlformats.org/drawingml/2006/main" noGrp="1"/>
          </p:cNvSpPr>
          <p:nvPr/>
        </p:nvSpPr>
        <p:spPr>
          <a:xfrm xmlns:a="http://schemas.openxmlformats.org/drawingml/2006/main">
            <a:off x="609600" y="3233928"/>
            <a:ext cx="10972800" cy="15438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開篇點題，概括人物特質。</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選取事例，突出人物形象。</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補充另一事例，深化人物形象。</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總結全文，聯繫個人體會。</a:t>
            </a:r>
          </a:p>
        </p:txBody>
      </p:sp>
      <p:sp>
        <p:nvSpPr>
          <p:cNvPr id="7" name="">
            <a:extLst xmlns:a="http://schemas.openxmlformats.org/drawingml/2006/main">
              <a:ext uri="{FF2B5EF4-FFF2-40B4-BE49-F238E27FC236}">
                <a16:creationId xmlns:a16="http://schemas.microsoft.com/office/drawing/2014/main" id="{11D91245-5596-4001-8D44-3F715E238AD2}"/>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8" name="">
            <a:extLst xmlns:a="http://schemas.openxmlformats.org/drawingml/2006/main">
              <a:ext uri="{FF2B5EF4-FFF2-40B4-BE49-F238E27FC236}">
                <a16:creationId xmlns:a16="http://schemas.microsoft.com/office/drawing/2014/main" id="{DA3C586E-70DC-4120-A2B4-0FC327216C4F}"/>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03／19</a:t>
            </a:r>
          </a:p>
        </p:txBody>
      </p:sp>
    </p:spTree>
    <p:extLst>
      <p:ext uri="{BB962C8B-B14F-4D97-AF65-F5344CB8AC3E}">
        <p14:creationId xmlns:p14="http://schemas.microsoft.com/office/powerpoint/2010/main" val="2025077709"/>
      </p:ext>
    </p:extLst>
  </p:cSld>
</p:sld>
</file>

<file path=ppt/slides/slide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F4F7C67-7478-4699-9C0B-FB70F3A6120C}"/>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02　班級概覽</a:t>
            </a:r>
          </a:p>
        </p:txBody>
      </p:sp>
      <p:sp>
        <p:nvSpPr>
          <p:cNvPr id="2" name="">
            <a:extLst xmlns:a="http://schemas.openxmlformats.org/drawingml/2006/main">
              <a:ext uri="{FF2B5EF4-FFF2-40B4-BE49-F238E27FC236}">
                <a16:creationId xmlns:a16="http://schemas.microsoft.com/office/drawing/2014/main" id="{82F70CF7-3DDE-4937-81E9-43E1D6226973}"/>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班級評分概覽</a:t>
            </a:r>
          </a:p>
        </p:txBody>
      </p:sp>
      <p:sp>
        <p:nvSpPr>
          <p:cNvPr id="3" name="">
            <a:extLst xmlns:a="http://schemas.openxmlformats.org/drawingml/2006/main">
              <a:ext uri="{FF2B5EF4-FFF2-40B4-BE49-F238E27FC236}">
                <a16:creationId xmlns:a16="http://schemas.microsoft.com/office/drawing/2014/main" id="{253F3366-089C-445D-9E73-F1173AEF6D54}"/>
              </a:ext>
            </a:extLst>
          </p:cNvPr>
          <p:cNvSpPr>
            <a:spLocks xmlns:a="http://schemas.openxmlformats.org/drawingml/2006/main" noGrp="1"/>
          </p:cNvSpPr>
          <p:nvPr/>
        </p:nvSpPr>
        <p:spPr>
          <a:xfrm xmlns:a="http://schemas.openxmlformats.org/drawingml/2006/main">
            <a:off x="609600" y="20193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67680"/>
                </a:solidFill>
                <a:latin typeface="Arial Unicode MS"/>
                <a:ea typeface="Arial Unicode MS"/>
                <a:cs typeface="Arial Unicode MS"/>
              </a:defRPr>
            </a:defPPr>
          </a:lstStyle>
          <a:p xmlns:a="http://schemas.openxmlformats.org/drawingml/2006/main">
            <a:pPr>
              <a:defRPr sz="2025" b="0">
                <a:solidFill>
                  <a:srgbClr val="667680"/>
                </a:solidFill>
                <a:latin typeface="Arial Unicode MS"/>
                <a:ea typeface="Arial Unicode MS"/>
                <a:cs typeface="Arial Unicode MS"/>
              </a:defRPr>
            </a:pPr>
            <a:r>
              <a:rPr sz="2025" b="0">
                <a:solidFill>
                  <a:srgbClr val="667680"/>
                </a:solidFill>
                <a:latin typeface="Arial Unicode MS"/>
                <a:ea typeface="Arial Unicode MS"/>
                <a:cs typeface="Arial Unicode MS"/>
              </a:rPr>
              <a:t>評分篇數</a:t>
            </a:r>
          </a:p>
        </p:txBody>
      </p:sp>
      <p:sp>
        <p:nvSpPr>
          <p:cNvPr id="4" name="">
            <a:extLst xmlns:a="http://schemas.openxmlformats.org/drawingml/2006/main">
              <a:ext uri="{FF2B5EF4-FFF2-40B4-BE49-F238E27FC236}">
                <a16:creationId xmlns:a16="http://schemas.microsoft.com/office/drawing/2014/main" id="{C412D11C-00A4-4C4C-8284-0DCB3D85F370}"/>
              </a:ext>
            </a:extLst>
          </p:cNvPr>
          <p:cNvSpPr>
            <a:spLocks xmlns:a="http://schemas.openxmlformats.org/drawingml/2006/main" noGrp="1"/>
          </p:cNvSpPr>
          <p:nvPr/>
        </p:nvSpPr>
        <p:spPr>
          <a:xfrm xmlns:a="http://schemas.openxmlformats.org/drawingml/2006/main">
            <a:off x="609600" y="25431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0">
                <a:solidFill>
                  <a:srgbClr val="126D73"/>
                </a:solidFill>
                <a:latin typeface="Arial Unicode MS"/>
                <a:ea typeface="Arial Unicode MS"/>
                <a:cs typeface="Arial Unicode MS"/>
              </a:defRPr>
            </a:defPPr>
          </a:lstStyle>
          <a:p xmlns:a="http://schemas.openxmlformats.org/drawingml/2006/main">
            <a:pPr>
              <a:defRPr sz="4500" b="0">
                <a:solidFill>
                  <a:srgbClr val="126D73"/>
                </a:solidFill>
                <a:latin typeface="Arial Unicode MS"/>
                <a:ea typeface="Arial Unicode MS"/>
                <a:cs typeface="Arial Unicode MS"/>
              </a:defRPr>
            </a:pPr>
            <a:r>
              <a:rPr sz="4500" b="0">
                <a:solidFill>
                  <a:srgbClr val="126D73"/>
                </a:solidFill>
                <a:latin typeface="Arial Unicode MS"/>
                <a:ea typeface="Arial Unicode MS"/>
                <a:cs typeface="Arial Unicode MS"/>
              </a:rPr>
              <a:t>7 篇</a:t>
            </a:r>
          </a:p>
        </p:txBody>
      </p:sp>
      <p:sp>
        <p:nvSpPr>
          <p:cNvPr id="5" name="">
            <a:extLst xmlns:a="http://schemas.openxmlformats.org/drawingml/2006/main">
              <a:ext uri="{FF2B5EF4-FFF2-40B4-BE49-F238E27FC236}">
                <a16:creationId xmlns:a16="http://schemas.microsoft.com/office/drawing/2014/main" id="{CE10F1EF-BDA9-4535-BC71-6F591ED1DD6A}"/>
              </a:ext>
            </a:extLst>
          </p:cNvPr>
          <p:cNvSpPr>
            <a:spLocks xmlns:a="http://schemas.openxmlformats.org/drawingml/2006/main" noGrp="1"/>
          </p:cNvSpPr>
          <p:nvPr/>
        </p:nvSpPr>
        <p:spPr>
          <a:xfrm xmlns:a="http://schemas.openxmlformats.org/drawingml/2006/main">
            <a:off x="609600" y="40100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67680"/>
                </a:solidFill>
                <a:latin typeface="Arial Unicode MS"/>
                <a:ea typeface="Arial Unicode MS"/>
                <a:cs typeface="Arial Unicode MS"/>
              </a:defRPr>
            </a:defPPr>
          </a:lstStyle>
          <a:p xmlns:a="http://schemas.openxmlformats.org/drawingml/2006/main">
            <a:pPr>
              <a:defRPr sz="2025" b="0">
                <a:solidFill>
                  <a:srgbClr val="667680"/>
                </a:solidFill>
                <a:latin typeface="Arial Unicode MS"/>
                <a:ea typeface="Arial Unicode MS"/>
                <a:cs typeface="Arial Unicode MS"/>
              </a:defRPr>
            </a:pPr>
            <a:r>
              <a:rPr sz="2025" b="0">
                <a:solidFill>
                  <a:srgbClr val="667680"/>
                </a:solidFill>
                <a:latin typeface="Arial Unicode MS"/>
                <a:ea typeface="Arial Unicode MS"/>
                <a:cs typeface="Arial Unicode MS"/>
              </a:rPr>
              <a:t>平均總分</a:t>
            </a:r>
          </a:p>
        </p:txBody>
      </p:sp>
      <p:sp>
        <p:nvSpPr>
          <p:cNvPr id="6" name="">
            <a:extLst xmlns:a="http://schemas.openxmlformats.org/drawingml/2006/main">
              <a:ext uri="{FF2B5EF4-FFF2-40B4-BE49-F238E27FC236}">
                <a16:creationId xmlns:a16="http://schemas.microsoft.com/office/drawing/2014/main" id="{C0C0A023-5A8F-4407-8470-AD78599E7883}"/>
              </a:ext>
            </a:extLst>
          </p:cNvPr>
          <p:cNvSpPr>
            <a:spLocks xmlns:a="http://schemas.openxmlformats.org/drawingml/2006/main" noGrp="1"/>
          </p:cNvSpPr>
          <p:nvPr/>
        </p:nvSpPr>
        <p:spPr>
          <a:xfrm xmlns:a="http://schemas.openxmlformats.org/drawingml/2006/main">
            <a:off x="609600" y="4552950"/>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126D73"/>
                </a:solidFill>
                <a:latin typeface="Arial Unicode MS"/>
                <a:ea typeface="Arial Unicode MS"/>
                <a:cs typeface="Arial Unicode MS"/>
              </a:defRPr>
            </a:defPPr>
          </a:lstStyle>
          <a:p xmlns:a="http://schemas.openxmlformats.org/drawingml/2006/main">
            <a:pPr>
              <a:defRPr sz="3450" b="0">
                <a:solidFill>
                  <a:srgbClr val="126D73"/>
                </a:solidFill>
                <a:latin typeface="Arial Unicode MS"/>
                <a:ea typeface="Arial Unicode MS"/>
                <a:cs typeface="Arial Unicode MS"/>
              </a:defRPr>
            </a:pPr>
            <a:r>
              <a:rPr sz="3450" b="0">
                <a:solidFill>
                  <a:srgbClr val="126D73"/>
                </a:solidFill>
                <a:latin typeface="Arial Unicode MS"/>
                <a:ea typeface="Arial Unicode MS"/>
                <a:cs typeface="Arial Unicode MS"/>
              </a:rPr>
              <a:t>46.4 / 100</a:t>
            </a:r>
          </a:p>
        </p:txBody>
      </p:sp>
      <p:graphicFrame>
        <p:nvGraphicFramePr>
          <p:cNvPr id="7" name="">
            <a:extLst xmlns:a="http://schemas.openxmlformats.org/drawingml/2006/main">
              <a:ext uri="{FF2B5EF4-FFF2-40B4-BE49-F238E27FC236}">
                <a16:creationId xmlns:a16="http://schemas.microsoft.com/office/drawing/2014/main" id="{955EEA57-8449-40D3-800E-11AC9EE198F9}"/>
              </a:ext>
            </a:extLst>
          </p:cNvPr>
          <p:cNvGraphicFramePr/>
          <p:nvPr/>
        </p:nvGraphicFramePr>
        <p:xfrm>
          <a:off xmlns:a="http://schemas.openxmlformats.org/drawingml/2006/main" x="4438650" y="1857375"/>
          <a:ext xmlns:a="http://schemas.openxmlformats.org/drawingml/2006/main" cx="7143750" cy="3962400"/>
        </p:xfrm>
        <a:graphic xmlns:a="http://schemas.openxmlformats.org/drawingml/2006/main">
          <a:graphicData uri="http://schemas.openxmlformats.org/drawingml/2006/table">
            <a:tbl>
              <a:tblPr/>
              <a:tblGrid>
                <a:gridCol w="1809750"/>
                <a:gridCol w="2476500"/>
                <a:gridCol w="2857500"/>
              </a:tblGrid>
              <a:tr h="571500">
                <a:tc>
                  <a:txBody>
                    <a:bodyPr lIns="133350" tIns="133350" rIns="133350" bIns="133350">
                      <a:noAutofit/>
                    </a:bodyPr>
                    <a:lstStyle/>
                    <a:p>
                      <a:r>
                        <a:rPr sz="2025" b="1">
                          <a:solidFill>
                            <a:srgbClr val="126D73"/>
                          </a:solidFill>
                          <a:latin typeface="Arial Unicode MS"/>
                          <a:ea typeface="Arial Unicode MS"/>
                          <a:cs typeface="Arial Unicode MS"/>
                        </a:rPr>
                        <a:t>維度</a:t>
                      </a:r>
                    </a:p>
                  </a:txBody>
                  <a:tcPr marL="91440" marR="91440" marT="45720" marB="45720" anchor="ctr">
                    <a:lnL w="9525">
                      <a:solidFill>
                        <a:srgbClr val="D5E0E3"/>
                      </a:solidFill>
                    </a:lnL>
                    <a:lnR w="9525">
                      <a:solidFill>
                        <a:srgbClr val="D5E0E3"/>
                      </a:solidFill>
                    </a:lnR>
                    <a:lnT w="9525">
                      <a:solidFill>
                        <a:srgbClr val="D5E0E3"/>
                      </a:solidFill>
                    </a:lnT>
                    <a:lnB w="9525">
                      <a:solidFill>
                        <a:srgbClr val="D5E0E3"/>
                      </a:solidFill>
                    </a:lnB>
                    <a:solidFill>
                      <a:srgbClr val="E8F0F1"/>
                    </a:solidFill>
                  </a:tcPr>
                </a:tc>
                <a:tc>
                  <a:txBody>
                    <a:bodyPr lIns="133350" tIns="133350" rIns="133350" bIns="133350">
                      <a:noAutofit/>
                    </a:bodyPr>
                    <a:lstStyle/>
                    <a:p>
                      <a:r>
                        <a:rPr sz="2025" b="1">
                          <a:solidFill>
                            <a:srgbClr val="126D73"/>
                          </a:solidFill>
                          <a:latin typeface="Arial Unicode MS"/>
                          <a:ea typeface="Arial Unicode MS"/>
                          <a:cs typeface="Arial Unicode MS"/>
                        </a:rPr>
                        <a:t>平均分／滿分</a:t>
                      </a:r>
                    </a:p>
                  </a:txBody>
                  <a:tcPr marL="91440" marR="91440" marT="45720" marB="45720" anchor="ctr">
                    <a:lnR w="9525">
                      <a:solidFill>
                        <a:srgbClr val="D5E0E3"/>
                      </a:solidFill>
                    </a:lnR>
                    <a:lnT w="9525">
                      <a:solidFill>
                        <a:srgbClr val="D5E0E3"/>
                      </a:solidFill>
                    </a:lnT>
                    <a:lnB w="9525">
                      <a:solidFill>
                        <a:srgbClr val="D5E0E3"/>
                      </a:solidFill>
                    </a:lnB>
                    <a:solidFill>
                      <a:srgbClr val="E8F0F1"/>
                    </a:solidFill>
                  </a:tcPr>
                </a:tc>
                <a:tc>
                  <a:txBody>
                    <a:bodyPr lIns="133350" tIns="133350" rIns="133350" bIns="133350">
                      <a:noAutofit/>
                    </a:bodyPr>
                    <a:lstStyle/>
                    <a:p>
                      <a:r>
                        <a:rPr sz="2025" b="1">
                          <a:solidFill>
                            <a:srgbClr val="126D73"/>
                          </a:solidFill>
                          <a:latin typeface="Arial Unicode MS"/>
                          <a:ea typeface="Arial Unicode MS"/>
                          <a:cs typeface="Arial Unicode MS"/>
                        </a:rPr>
                        <a:t>平均得分率</a:t>
                      </a:r>
                    </a:p>
                  </a:txBody>
                  <a:tcPr marL="91440" marR="91440" marT="45720" marB="45720" anchor="ctr">
                    <a:lnR w="9525">
                      <a:solidFill>
                        <a:srgbClr val="D5E0E3"/>
                      </a:solidFill>
                    </a:lnR>
                    <a:lnT w="9525">
                      <a:solidFill>
                        <a:srgbClr val="D5E0E3"/>
                      </a:solidFill>
                    </a:lnT>
                    <a:lnB w="9525">
                      <a:solidFill>
                        <a:srgbClr val="D5E0E3"/>
                      </a:solidFill>
                    </a:lnB>
                    <a:solidFill>
                      <a:srgbClr val="E8F0F1"/>
                    </a:solidFill>
                  </a:tcPr>
                </a:tc>
              </a:tr>
              <a:tr h="847725">
                <a:tc>
                  <a:txBody>
                    <a:bodyPr lIns="133350" tIns="133350" rIns="133350" bIns="133350">
                      <a:noAutofit/>
                    </a:bodyPr>
                    <a:lstStyle/>
                    <a:p>
                      <a:r>
                        <a:rPr sz="2025" b="0">
                          <a:solidFill>
                            <a:srgbClr val="233441"/>
                          </a:solidFill>
                          <a:latin typeface="Arial Unicode MS"/>
                          <a:ea typeface="Arial Unicode MS"/>
                          <a:cs typeface="Arial Unicode MS"/>
                        </a:rPr>
                        <a:t>內容</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17.4 / 40</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43.6%</a:t>
                      </a:r>
                    </a:p>
                  </a:txBody>
                  <a:tcPr marL="91440" marR="91440" marT="45720" marB="45720" anchor="ctr">
                    <a:lnR w="9525">
                      <a:solidFill>
                        <a:srgbClr val="D5E0E3"/>
                      </a:solidFill>
                    </a:lnR>
                    <a:lnB w="9525">
                      <a:solidFill>
                        <a:srgbClr val="D5E0E3"/>
                      </a:solidFill>
                    </a:lnB>
                    <a:solidFill>
                      <a:srgbClr val="F7F9FA"/>
                    </a:solidFill>
                  </a:tcPr>
                </a:tc>
              </a:tr>
              <a:tr h="847725">
                <a:tc>
                  <a:txBody>
                    <a:bodyPr lIns="133350" tIns="133350" rIns="133350" bIns="133350">
                      <a:noAutofit/>
                    </a:bodyPr>
                    <a:lstStyle/>
                    <a:p>
                      <a:r>
                        <a:rPr sz="2025" b="0">
                          <a:solidFill>
                            <a:srgbClr val="233441"/>
                          </a:solidFill>
                          <a:latin typeface="Arial Unicode MS"/>
                          <a:ea typeface="Arial Unicode MS"/>
                          <a:cs typeface="Arial Unicode MS"/>
                        </a:rPr>
                        <a:t>表達</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13.3 / 30</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44.3%</a:t>
                      </a:r>
                    </a:p>
                  </a:txBody>
                  <a:tcPr marL="91440" marR="91440" marT="45720" marB="45720" anchor="ctr">
                    <a:lnR w="9525">
                      <a:solidFill>
                        <a:srgbClr val="D5E0E3"/>
                      </a:solidFill>
                    </a:lnR>
                    <a:lnB w="9525">
                      <a:solidFill>
                        <a:srgbClr val="D5E0E3"/>
                      </a:solidFill>
                    </a:lnB>
                    <a:solidFill>
                      <a:srgbClr val="F7F9FA"/>
                    </a:solidFill>
                  </a:tcPr>
                </a:tc>
              </a:tr>
              <a:tr h="847725">
                <a:tc>
                  <a:txBody>
                    <a:bodyPr lIns="133350" tIns="133350" rIns="133350" bIns="133350">
                      <a:noAutofit/>
                    </a:bodyPr>
                    <a:lstStyle/>
                    <a:p>
                      <a:r>
                        <a:rPr sz="2025" b="0">
                          <a:solidFill>
                            <a:srgbClr val="233441"/>
                          </a:solidFill>
                          <a:latin typeface="Arial Unicode MS"/>
                          <a:ea typeface="Arial Unicode MS"/>
                          <a:cs typeface="Arial Unicode MS"/>
                        </a:rPr>
                        <a:t>結構</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9.4 / 20</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47.1%</a:t>
                      </a:r>
                    </a:p>
                  </a:txBody>
                  <a:tcPr marL="91440" marR="91440" marT="45720" marB="45720" anchor="ctr">
                    <a:lnR w="9525">
                      <a:solidFill>
                        <a:srgbClr val="D5E0E3"/>
                      </a:solidFill>
                    </a:lnR>
                    <a:lnB w="9525">
                      <a:solidFill>
                        <a:srgbClr val="D5E0E3"/>
                      </a:solidFill>
                    </a:lnB>
                    <a:solidFill>
                      <a:srgbClr val="F7F9FA"/>
                    </a:solidFill>
                  </a:tcPr>
                </a:tc>
              </a:tr>
              <a:tr h="847725">
                <a:tc>
                  <a:txBody>
                    <a:bodyPr lIns="133350" tIns="133350" rIns="133350" bIns="133350">
                      <a:noAutofit/>
                    </a:bodyPr>
                    <a:lstStyle/>
                    <a:p>
                      <a:r>
                        <a:rPr sz="2025" b="0">
                          <a:solidFill>
                            <a:srgbClr val="233441"/>
                          </a:solidFill>
                          <a:latin typeface="Arial Unicode MS"/>
                          <a:ea typeface="Arial Unicode MS"/>
                          <a:cs typeface="Arial Unicode MS"/>
                        </a:rPr>
                        <a:t>標點字體</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6.3 / 10</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62.9%</a:t>
                      </a:r>
                    </a:p>
                  </a:txBody>
                  <a:tcPr marL="91440" marR="91440" marT="45720" marB="45720" anchor="ctr">
                    <a:lnR w="9525">
                      <a:solidFill>
                        <a:srgbClr val="D5E0E3"/>
                      </a:solidFill>
                    </a:lnR>
                    <a:lnB w="9525">
                      <a:solidFill>
                        <a:srgbClr val="D5E0E3"/>
                      </a:solidFill>
                    </a:lnB>
                    <a:solidFill>
                      <a:srgbClr val="F7F9FA"/>
                    </a:solidFill>
                  </a:tcPr>
                </a:tc>
              </a:tr>
            </a:tbl>
          </a:graphicData>
        </a:graphic>
      </p:graphicFrame>
      <p:sp>
        <p:nvSpPr>
          <p:cNvPr id="8" name="">
            <a:extLst xmlns:a="http://schemas.openxmlformats.org/drawingml/2006/main">
              <a:ext uri="{FF2B5EF4-FFF2-40B4-BE49-F238E27FC236}">
                <a16:creationId xmlns:a16="http://schemas.microsoft.com/office/drawing/2014/main" id="{305913E1-A09A-4CA5-ADDC-BD0B2024CC95}"/>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9" name="">
            <a:extLst xmlns:a="http://schemas.openxmlformats.org/drawingml/2006/main">
              <a:ext uri="{FF2B5EF4-FFF2-40B4-BE49-F238E27FC236}">
                <a16:creationId xmlns:a16="http://schemas.microsoft.com/office/drawing/2014/main" id="{AA4A65E3-383A-43DB-9158-40102A946F5F}"/>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04／19</a:t>
            </a:r>
          </a:p>
        </p:txBody>
      </p:sp>
    </p:spTree>
    <p:extLst>
      <p:ext uri="{BB962C8B-B14F-4D97-AF65-F5344CB8AC3E}">
        <p14:creationId xmlns:p14="http://schemas.microsoft.com/office/powerpoint/2010/main" val="507918194"/>
      </p:ext>
    </p:extLst>
  </p:cSld>
</p:sld>
</file>

<file path=ppt/slides/slide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448B58-0E89-4A80-95DA-95B42AFD2F91}"/>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02　班級概覽</a:t>
            </a:r>
          </a:p>
        </p:txBody>
      </p:sp>
      <p:sp>
        <p:nvSpPr>
          <p:cNvPr id="2" name="">
            <a:extLst xmlns:a="http://schemas.openxmlformats.org/drawingml/2006/main">
              <a:ext uri="{FF2B5EF4-FFF2-40B4-BE49-F238E27FC236}">
                <a16:creationId xmlns:a16="http://schemas.microsoft.com/office/drawing/2014/main" id="{8E57B3F1-0991-473B-BAC5-BB1CEB8E352C}"/>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共通改進方向</a:t>
            </a:r>
          </a:p>
        </p:txBody>
      </p:sp>
      <p:graphicFrame>
        <p:nvGraphicFramePr>
          <p:cNvPr id="3" name="">
            <a:extLst xmlns:a="http://schemas.openxmlformats.org/drawingml/2006/main">
              <a:ext uri="{FF2B5EF4-FFF2-40B4-BE49-F238E27FC236}">
                <a16:creationId xmlns:a16="http://schemas.microsoft.com/office/drawing/2014/main" id="{D0561CFF-42F5-4BE2-AE28-EE20DABEA90F}"/>
              </a:ext>
            </a:extLst>
          </p:cNvPr>
          <p:cNvGraphicFramePr/>
          <p:nvPr/>
        </p:nvGraphicFramePr>
        <p:xfrm>
          <a:off xmlns:a="http://schemas.openxmlformats.org/drawingml/2006/main" x="609600" y="1847850"/>
          <a:ext xmlns:a="http://schemas.openxmlformats.org/drawingml/2006/main" cx="10972800" cy="3000375"/>
        </p:xfrm>
        <a:graphic xmlns:a="http://schemas.openxmlformats.org/drawingml/2006/main">
          <a:graphicData uri="http://schemas.openxmlformats.org/drawingml/2006/table">
            <a:tbl>
              <a:tblPr/>
              <a:tblGrid>
                <a:gridCol w="2286000"/>
                <a:gridCol w="6286500"/>
                <a:gridCol w="2400300"/>
              </a:tblGrid>
              <a:tr h="571500">
                <a:tc>
                  <a:txBody>
                    <a:bodyPr lIns="133350" tIns="133350" rIns="133350" bIns="133350">
                      <a:noAutofit/>
                    </a:bodyPr>
                    <a:lstStyle/>
                    <a:p>
                      <a:r>
                        <a:rPr sz="2025" b="1">
                          <a:solidFill>
                            <a:srgbClr val="126D73"/>
                          </a:solidFill>
                          <a:latin typeface="Arial Unicode MS"/>
                          <a:ea typeface="Arial Unicode MS"/>
                          <a:cs typeface="Arial Unicode MS"/>
                        </a:rPr>
                        <a:t>維度</a:t>
                      </a:r>
                    </a:p>
                  </a:txBody>
                  <a:tcPr marL="91440" marR="91440" marT="45720" marB="45720" anchor="ctr">
                    <a:lnL w="9525">
                      <a:solidFill>
                        <a:srgbClr val="D5E0E3"/>
                      </a:solidFill>
                    </a:lnL>
                    <a:lnR w="9525">
                      <a:solidFill>
                        <a:srgbClr val="D5E0E3"/>
                      </a:solidFill>
                    </a:lnR>
                    <a:lnT w="9525">
                      <a:solidFill>
                        <a:srgbClr val="D5E0E3"/>
                      </a:solidFill>
                    </a:lnT>
                    <a:lnB w="9525">
                      <a:solidFill>
                        <a:srgbClr val="D5E0E3"/>
                      </a:solidFill>
                    </a:lnB>
                    <a:solidFill>
                      <a:srgbClr val="E8F0F1"/>
                    </a:solidFill>
                  </a:tcPr>
                </a:tc>
                <a:tc>
                  <a:txBody>
                    <a:bodyPr lIns="133350" tIns="133350" rIns="133350" bIns="133350">
                      <a:noAutofit/>
                    </a:bodyPr>
                    <a:lstStyle/>
                    <a:p>
                      <a:r>
                        <a:rPr sz="2025" b="1">
                          <a:solidFill>
                            <a:srgbClr val="126D73"/>
                          </a:solidFill>
                          <a:latin typeface="Arial Unicode MS"/>
                          <a:ea typeface="Arial Unicode MS"/>
                          <a:cs typeface="Arial Unicode MS"/>
                        </a:rPr>
                        <a:t>改進方向</a:t>
                      </a:r>
                    </a:p>
                  </a:txBody>
                  <a:tcPr marL="91440" marR="91440" marT="45720" marB="45720" anchor="ctr">
                    <a:lnR w="9525">
                      <a:solidFill>
                        <a:srgbClr val="D5E0E3"/>
                      </a:solidFill>
                    </a:lnR>
                    <a:lnT w="9525">
                      <a:solidFill>
                        <a:srgbClr val="D5E0E3"/>
                      </a:solidFill>
                    </a:lnT>
                    <a:lnB w="9525">
                      <a:solidFill>
                        <a:srgbClr val="D5E0E3"/>
                      </a:solidFill>
                    </a:lnB>
                    <a:solidFill>
                      <a:srgbClr val="E8F0F1"/>
                    </a:solidFill>
                  </a:tcPr>
                </a:tc>
                <a:tc>
                  <a:txBody>
                    <a:bodyPr lIns="133350" tIns="133350" rIns="133350" bIns="133350">
                      <a:noAutofit/>
                    </a:bodyPr>
                    <a:lstStyle/>
                    <a:p>
                      <a:r>
                        <a:rPr sz="2025" b="1">
                          <a:solidFill>
                            <a:srgbClr val="126D73"/>
                          </a:solidFill>
                          <a:latin typeface="Arial Unicode MS"/>
                          <a:ea typeface="Arial Unicode MS"/>
                          <a:cs typeface="Arial Unicode MS"/>
                        </a:rPr>
                        <a:t>建議涉及篇數</a:t>
                      </a:r>
                    </a:p>
                  </a:txBody>
                  <a:tcPr marL="91440" marR="91440" marT="45720" marB="45720" anchor="ctr">
                    <a:lnR w="9525">
                      <a:solidFill>
                        <a:srgbClr val="D5E0E3"/>
                      </a:solidFill>
                    </a:lnR>
                    <a:lnT w="9525">
                      <a:solidFill>
                        <a:srgbClr val="D5E0E3"/>
                      </a:solidFill>
                    </a:lnT>
                    <a:lnB w="9525">
                      <a:solidFill>
                        <a:srgbClr val="D5E0E3"/>
                      </a:solidFill>
                    </a:lnB>
                    <a:solidFill>
                      <a:srgbClr val="E8F0F1"/>
                    </a:solidFill>
                  </a:tcPr>
                </a:tc>
              </a:tr>
              <a:tr h="809625">
                <a:tc>
                  <a:txBody>
                    <a:bodyPr lIns="133350" tIns="133350" rIns="133350" bIns="133350">
                      <a:noAutofit/>
                    </a:bodyPr>
                    <a:lstStyle/>
                    <a:p>
                      <a:r>
                        <a:rPr sz="2025" b="0">
                          <a:solidFill>
                            <a:srgbClr val="233441"/>
                          </a:solidFill>
                          <a:latin typeface="Arial Unicode MS"/>
                          <a:ea typeface="Arial Unicode MS"/>
                          <a:cs typeface="Arial Unicode MS"/>
                        </a:rPr>
                        <a:t>內容</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具體交代個人體會</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7 / 7</a:t>
                      </a:r>
                    </a:p>
                  </a:txBody>
                  <a:tcPr marL="91440" marR="91440" marT="45720" marB="45720" anchor="ctr">
                    <a:lnR w="9525">
                      <a:solidFill>
                        <a:srgbClr val="D5E0E3"/>
                      </a:solidFill>
                    </a:lnR>
                    <a:lnB w="9525">
                      <a:solidFill>
                        <a:srgbClr val="D5E0E3"/>
                      </a:solidFill>
                    </a:lnB>
                    <a:solidFill>
                      <a:srgbClr val="F7F9FA"/>
                    </a:solidFill>
                  </a:tcPr>
                </a:tc>
              </a:tr>
              <a:tr h="809625">
                <a:tc>
                  <a:txBody>
                    <a:bodyPr lIns="133350" tIns="133350" rIns="133350" bIns="133350">
                      <a:noAutofit/>
                    </a:bodyPr>
                    <a:lstStyle/>
                    <a:p>
                      <a:r>
                        <a:rPr sz="2025" b="0">
                          <a:solidFill>
                            <a:srgbClr val="233441"/>
                          </a:solidFill>
                          <a:latin typeface="Arial Unicode MS"/>
                          <a:ea typeface="Arial Unicode MS"/>
                          <a:cs typeface="Arial Unicode MS"/>
                        </a:rPr>
                        <a:t>內容</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補充事例後的分析</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6 / 7</a:t>
                      </a:r>
                    </a:p>
                  </a:txBody>
                  <a:tcPr marL="91440" marR="91440" marT="45720" marB="45720" anchor="ctr">
                    <a:lnR w="9525">
                      <a:solidFill>
                        <a:srgbClr val="D5E0E3"/>
                      </a:solidFill>
                    </a:lnR>
                    <a:lnB w="9525">
                      <a:solidFill>
                        <a:srgbClr val="D5E0E3"/>
                      </a:solidFill>
                    </a:lnB>
                    <a:solidFill>
                      <a:srgbClr val="F7F9FA"/>
                    </a:solidFill>
                  </a:tcPr>
                </a:tc>
              </a:tr>
              <a:tr h="809625">
                <a:tc>
                  <a:txBody>
                    <a:bodyPr lIns="133350" tIns="133350" rIns="133350" bIns="133350">
                      <a:noAutofit/>
                    </a:bodyPr>
                    <a:lstStyle/>
                    <a:p>
                      <a:r>
                        <a:rPr sz="2025" b="0">
                          <a:solidFill>
                            <a:srgbClr val="233441"/>
                          </a:solidFill>
                          <a:latin typeface="Arial Unicode MS"/>
                          <a:ea typeface="Arial Unicode MS"/>
                          <a:cs typeface="Arial Unicode MS"/>
                        </a:rPr>
                        <a:t>內容</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讓不同事例各有側重</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2025" b="0">
                          <a:solidFill>
                            <a:srgbClr val="233441"/>
                          </a:solidFill>
                          <a:latin typeface="Arial Unicode MS"/>
                          <a:ea typeface="Arial Unicode MS"/>
                          <a:cs typeface="Arial Unicode MS"/>
                        </a:rPr>
                        <a:t>5 / 7</a:t>
                      </a:r>
                    </a:p>
                  </a:txBody>
                  <a:tcPr marL="91440" marR="91440" marT="45720" marB="45720" anchor="ctr">
                    <a:lnR w="9525">
                      <a:solidFill>
                        <a:srgbClr val="D5E0E3"/>
                      </a:solidFill>
                    </a:lnR>
                    <a:lnB w="9525">
                      <a:solidFill>
                        <a:srgbClr val="D5E0E3"/>
                      </a:solidFill>
                    </a:lnB>
                    <a:solidFill>
                      <a:srgbClr val="F7F9FA"/>
                    </a:solidFill>
                  </a:tcPr>
                </a:tc>
              </a:tr>
            </a:tbl>
          </a:graphicData>
        </a:graphic>
      </p:graphicFrame>
      <p:sp>
        <p:nvSpPr>
          <p:cNvPr id="4" name="">
            <a:extLst xmlns:a="http://schemas.openxmlformats.org/drawingml/2006/main">
              <a:ext uri="{FF2B5EF4-FFF2-40B4-BE49-F238E27FC236}">
                <a16:creationId xmlns:a16="http://schemas.microsoft.com/office/drawing/2014/main" id="{1574411B-1874-4C48-9423-7B222EE35448}"/>
              </a:ext>
            </a:extLst>
          </p:cNvPr>
          <p:cNvSpPr>
            <a:spLocks xmlns:a="http://schemas.openxmlformats.org/drawingml/2006/main" noGrp="1"/>
          </p:cNvSpPr>
          <p:nvPr/>
        </p:nvSpPr>
        <p:spPr>
          <a:xfrm xmlns:a="http://schemas.openxmlformats.org/drawingml/2006/main">
            <a:off x="609600" y="52387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67680"/>
                </a:solidFill>
                <a:latin typeface="Arial Unicode MS"/>
                <a:ea typeface="Arial Unicode MS"/>
                <a:cs typeface="Arial Unicode MS"/>
              </a:defRPr>
            </a:defPPr>
          </a:lstStyle>
          <a:p xmlns:a="http://schemas.openxmlformats.org/drawingml/2006/main">
            <a:pPr>
              <a:defRPr sz="1800" b="0">
                <a:solidFill>
                  <a:srgbClr val="667680"/>
                </a:solidFill>
                <a:latin typeface="Arial Unicode MS"/>
                <a:ea typeface="Arial Unicode MS"/>
                <a:cs typeface="Arial Unicode MS"/>
              </a:defRPr>
            </a:pPr>
            <a:r>
              <a:rPr sz="1800" b="0">
                <a:solidFill>
                  <a:srgbClr val="667680"/>
                </a:solidFill>
                <a:latin typeface="Arial Unicode MS"/>
                <a:ea typeface="Arial Unicode MS"/>
                <a:cs typeface="Arial Unicode MS"/>
              </a:rPr>
              <a:t>依據已有整體改善建議分類，同一篇同類只計一次。以下三頁分別選讀一組原文與已有建議。</a:t>
            </a:r>
          </a:p>
        </p:txBody>
      </p:sp>
      <p:sp>
        <p:nvSpPr>
          <p:cNvPr id="5" name="">
            <a:extLst xmlns:a="http://schemas.openxmlformats.org/drawingml/2006/main">
              <a:ext uri="{FF2B5EF4-FFF2-40B4-BE49-F238E27FC236}">
                <a16:creationId xmlns:a16="http://schemas.microsoft.com/office/drawing/2014/main" id="{3E31BD32-315A-44E3-8D8A-365902AEE470}"/>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6" name="">
            <a:extLst xmlns:a="http://schemas.openxmlformats.org/drawingml/2006/main">
              <a:ext uri="{FF2B5EF4-FFF2-40B4-BE49-F238E27FC236}">
                <a16:creationId xmlns:a16="http://schemas.microsoft.com/office/drawing/2014/main" id="{9F04E15E-24D0-4790-B878-B09A9EF69F3C}"/>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05／19</a:t>
            </a:r>
          </a:p>
        </p:txBody>
      </p:sp>
    </p:spTree>
    <p:extLst>
      <p:ext uri="{BB962C8B-B14F-4D97-AF65-F5344CB8AC3E}">
        <p14:creationId xmlns:p14="http://schemas.microsoft.com/office/powerpoint/2010/main" val="916865952"/>
      </p:ext>
    </p:extLst>
  </p:cSld>
</p:sld>
</file>

<file path=ppt/slides/slide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C5A2ED-4AD3-4B24-9DAE-D56C1CEE89C5}"/>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03　內容</a:t>
            </a:r>
          </a:p>
        </p:txBody>
      </p:sp>
      <p:sp>
        <p:nvSpPr>
          <p:cNvPr id="2" name="">
            <a:extLst xmlns:a="http://schemas.openxmlformats.org/drawingml/2006/main">
              <a:ext uri="{FF2B5EF4-FFF2-40B4-BE49-F238E27FC236}">
                <a16:creationId xmlns:a16="http://schemas.microsoft.com/office/drawing/2014/main" id="{010F42B1-3FE2-4166-A660-3063312F59C3}"/>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共通改進方向一｜具體交代個人體會</a:t>
            </a:r>
          </a:p>
        </p:txBody>
      </p:sp>
      <p:sp>
        <p:nvSpPr>
          <p:cNvPr id="3" name="">
            <a:extLst xmlns:a="http://schemas.openxmlformats.org/drawingml/2006/main">
              <a:ext uri="{FF2B5EF4-FFF2-40B4-BE49-F238E27FC236}">
                <a16:creationId xmlns:a16="http://schemas.microsoft.com/office/drawing/2014/main" id="{D0EE5512-063E-4BDF-9B9C-46EC55C370C3}"/>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原文</a:t>
            </a:r>
          </a:p>
        </p:txBody>
      </p:sp>
      <p:sp>
        <p:nvSpPr>
          <p:cNvPr id="4" name="">
            <a:extLst xmlns:a="http://schemas.openxmlformats.org/drawingml/2006/main">
              <a:ext uri="{FF2B5EF4-FFF2-40B4-BE49-F238E27FC236}">
                <a16:creationId xmlns:a16="http://schemas.microsoft.com/office/drawing/2014/main" id="{92347AB1-A653-4C83-A724-8C836B37AD44}"/>
              </a:ext>
            </a:extLst>
          </p:cNvPr>
          <p:cNvSpPr>
            <a:spLocks xmlns:a="http://schemas.openxmlformats.org/drawingml/2006/main" noGrp="1"/>
          </p:cNvSpPr>
          <p:nvPr/>
        </p:nvSpPr>
        <p:spPr>
          <a:xfrm xmlns:a="http://schemas.openxmlformats.org/drawingml/2006/main">
            <a:off x="609600" y="2162175"/>
            <a:ext cx="1097280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楊修雖然最後以恃才放曠的罪名被斬首了但是我也是十分尊敬他的才智，他也讓我明白到才</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智是不能亂用。</a:t>
            </a:r>
          </a:p>
        </p:txBody>
      </p:sp>
      <p:sp>
        <p:nvSpPr>
          <p:cNvPr id="5" name="">
            <a:extLst xmlns:a="http://schemas.openxmlformats.org/drawingml/2006/main">
              <a:ext uri="{FF2B5EF4-FFF2-40B4-BE49-F238E27FC236}">
                <a16:creationId xmlns:a16="http://schemas.microsoft.com/office/drawing/2014/main" id="{A3F52F01-4ED6-4B5E-A684-D435587459BA}"/>
              </a:ext>
            </a:extLst>
          </p:cNvPr>
          <p:cNvSpPr>
            <a:spLocks xmlns:a="http://schemas.openxmlformats.org/drawingml/2006/main" noGrp="1"/>
          </p:cNvSpPr>
          <p:nvPr/>
        </p:nvSpPr>
        <p:spPr>
          <a:xfrm xmlns:a="http://schemas.openxmlformats.org/drawingml/2006/main">
            <a:off x="609600" y="3181731"/>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改進方向</a:t>
            </a:r>
          </a:p>
        </p:txBody>
      </p:sp>
      <p:sp>
        <p:nvSpPr>
          <p:cNvPr id="6" name="">
            <a:extLst xmlns:a="http://schemas.openxmlformats.org/drawingml/2006/main">
              <a:ext uri="{FF2B5EF4-FFF2-40B4-BE49-F238E27FC236}">
                <a16:creationId xmlns:a16="http://schemas.microsoft.com/office/drawing/2014/main" id="{FC69EEA9-9F4A-484E-AC81-B046608C58D3}"/>
              </a:ext>
            </a:extLst>
          </p:cNvPr>
          <p:cNvSpPr>
            <a:spLocks xmlns:a="http://schemas.openxmlformats.org/drawingml/2006/main" noGrp="1"/>
          </p:cNvSpPr>
          <p:nvPr/>
        </p:nvSpPr>
        <p:spPr>
          <a:xfrm xmlns:a="http://schemas.openxmlformats.org/drawingml/2006/main">
            <a:off x="609600" y="3591306"/>
            <a:ext cx="10972800" cy="471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把結尾的體會具體化，例如聯繫學習或與人相處，說明才智應如何謙遜、審慎地運用。</a:t>
            </a:r>
          </a:p>
        </p:txBody>
      </p:sp>
      <p:sp>
        <p:nvSpPr>
          <p:cNvPr id="7" name="">
            <a:extLst xmlns:a="http://schemas.openxmlformats.org/drawingml/2006/main">
              <a:ext uri="{FF2B5EF4-FFF2-40B4-BE49-F238E27FC236}">
                <a16:creationId xmlns:a16="http://schemas.microsoft.com/office/drawing/2014/main" id="{61027821-1758-459E-8290-96A46E3204EF}"/>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8" name="">
            <a:extLst xmlns:a="http://schemas.openxmlformats.org/drawingml/2006/main">
              <a:ext uri="{FF2B5EF4-FFF2-40B4-BE49-F238E27FC236}">
                <a16:creationId xmlns:a16="http://schemas.microsoft.com/office/drawing/2014/main" id="{64E382EC-AB47-4C9F-9AE5-EC5D058D7033}"/>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06／19</a:t>
            </a:r>
          </a:p>
        </p:txBody>
      </p:sp>
    </p:spTree>
    <p:extLst>
      <p:ext uri="{BB962C8B-B14F-4D97-AF65-F5344CB8AC3E}">
        <p14:creationId xmlns:p14="http://schemas.microsoft.com/office/powerpoint/2010/main" val="145983040"/>
      </p:ext>
    </p:extLst>
  </p:cSld>
</p:sld>
</file>

<file path=ppt/slides/slide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1ADC2F-A4B2-45DD-BC50-C64913A3005F}"/>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03　內容</a:t>
            </a:r>
          </a:p>
        </p:txBody>
      </p:sp>
      <p:sp>
        <p:nvSpPr>
          <p:cNvPr id="2" name="">
            <a:extLst xmlns:a="http://schemas.openxmlformats.org/drawingml/2006/main">
              <a:ext uri="{FF2B5EF4-FFF2-40B4-BE49-F238E27FC236}">
                <a16:creationId xmlns:a16="http://schemas.microsoft.com/office/drawing/2014/main" id="{925F7224-1AA6-4150-B643-295340B66D43}"/>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共通改進方向二｜補充事例後的分析</a:t>
            </a:r>
          </a:p>
        </p:txBody>
      </p:sp>
      <p:sp>
        <p:nvSpPr>
          <p:cNvPr id="3" name="">
            <a:extLst xmlns:a="http://schemas.openxmlformats.org/drawingml/2006/main">
              <a:ext uri="{FF2B5EF4-FFF2-40B4-BE49-F238E27FC236}">
                <a16:creationId xmlns:a16="http://schemas.microsoft.com/office/drawing/2014/main" id="{89EB3C9E-A7B7-46BE-B917-8A6A90D48F0E}"/>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原文</a:t>
            </a:r>
          </a:p>
        </p:txBody>
      </p:sp>
      <p:sp>
        <p:nvSpPr>
          <p:cNvPr id="4" name="">
            <a:extLst xmlns:a="http://schemas.openxmlformats.org/drawingml/2006/main">
              <a:ext uri="{FF2B5EF4-FFF2-40B4-BE49-F238E27FC236}">
                <a16:creationId xmlns:a16="http://schemas.microsoft.com/office/drawing/2014/main" id="{B22DB09A-DDBE-4732-A95C-E350EEB601FB}"/>
              </a:ext>
            </a:extLst>
          </p:cNvPr>
          <p:cNvSpPr>
            <a:spLocks xmlns:a="http://schemas.openxmlformats.org/drawingml/2006/main" noGrp="1"/>
          </p:cNvSpPr>
          <p:nvPr/>
        </p:nvSpPr>
        <p:spPr>
          <a:xfrm xmlns:a="http://schemas.openxmlformats.org/drawingml/2006/main">
            <a:off x="609600" y="2162175"/>
            <a:ext cx="10972800" cy="471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我認為，楊修只是才華過人且無惡意，楊修所以死完全是因為曹操的胸狹窄</a:t>
            </a:r>
          </a:p>
        </p:txBody>
      </p:sp>
      <p:sp>
        <p:nvSpPr>
          <p:cNvPr id="5" name="">
            <a:extLst xmlns:a="http://schemas.openxmlformats.org/drawingml/2006/main">
              <a:ext uri="{FF2B5EF4-FFF2-40B4-BE49-F238E27FC236}">
                <a16:creationId xmlns:a16="http://schemas.microsoft.com/office/drawing/2014/main" id="{CDC8B96C-4411-430E-B046-091DEE1DEA51}"/>
              </a:ext>
            </a:extLst>
          </p:cNvPr>
          <p:cNvSpPr>
            <a:spLocks xmlns:a="http://schemas.openxmlformats.org/drawingml/2006/main" noGrp="1"/>
          </p:cNvSpPr>
          <p:nvPr/>
        </p:nvSpPr>
        <p:spPr>
          <a:xfrm xmlns:a="http://schemas.openxmlformats.org/drawingml/2006/main">
            <a:off x="609600" y="2824353"/>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改進方向</a:t>
            </a:r>
          </a:p>
        </p:txBody>
      </p:sp>
      <p:sp>
        <p:nvSpPr>
          <p:cNvPr id="6" name="">
            <a:extLst xmlns:a="http://schemas.openxmlformats.org/drawingml/2006/main">
              <a:ext uri="{FF2B5EF4-FFF2-40B4-BE49-F238E27FC236}">
                <a16:creationId xmlns:a16="http://schemas.microsoft.com/office/drawing/2014/main" id="{6460B5E8-F3CA-4FEE-874A-782963E729EB}"/>
              </a:ext>
            </a:extLst>
          </p:cNvPr>
          <p:cNvSpPr>
            <a:spLocks xmlns:a="http://schemas.openxmlformats.org/drawingml/2006/main" noGrp="1"/>
          </p:cNvSpPr>
          <p:nvPr/>
        </p:nvSpPr>
        <p:spPr>
          <a:xfrm xmlns:a="http://schemas.openxmlformats.org/drawingml/2006/main">
            <a:off x="609600" y="3233928"/>
            <a:ext cx="1097280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補充分析楊修雖有才華但缺乏處世智慧，指出其悲劇是性格與環境共同作用的結果，而非單</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一方責任。</a:t>
            </a:r>
          </a:p>
        </p:txBody>
      </p:sp>
      <p:sp>
        <p:nvSpPr>
          <p:cNvPr id="7" name="">
            <a:extLst xmlns:a="http://schemas.openxmlformats.org/drawingml/2006/main">
              <a:ext uri="{FF2B5EF4-FFF2-40B4-BE49-F238E27FC236}">
                <a16:creationId xmlns:a16="http://schemas.microsoft.com/office/drawing/2014/main" id="{5D449E63-D272-40DE-97C4-94C48B71EF15}"/>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8" name="">
            <a:extLst xmlns:a="http://schemas.openxmlformats.org/drawingml/2006/main">
              <a:ext uri="{FF2B5EF4-FFF2-40B4-BE49-F238E27FC236}">
                <a16:creationId xmlns:a16="http://schemas.microsoft.com/office/drawing/2014/main" id="{75E861AA-B22D-4608-A3DC-C4794C49D218}"/>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07／19</a:t>
            </a:r>
          </a:p>
        </p:txBody>
      </p:sp>
    </p:spTree>
    <p:extLst>
      <p:ext uri="{BB962C8B-B14F-4D97-AF65-F5344CB8AC3E}">
        <p14:creationId xmlns:p14="http://schemas.microsoft.com/office/powerpoint/2010/main" val="1895910045"/>
      </p:ext>
    </p:extLst>
  </p:cSld>
</p:sld>
</file>

<file path=ppt/slides/slide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AEABF9-E822-48C1-AEAF-11A771ACF012}"/>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03　內容</a:t>
            </a:r>
          </a:p>
        </p:txBody>
      </p:sp>
      <p:sp>
        <p:nvSpPr>
          <p:cNvPr id="2" name="">
            <a:extLst xmlns:a="http://schemas.openxmlformats.org/drawingml/2006/main">
              <a:ext uri="{FF2B5EF4-FFF2-40B4-BE49-F238E27FC236}">
                <a16:creationId xmlns:a16="http://schemas.microsoft.com/office/drawing/2014/main" id="{D5779FC0-F70A-4EAF-95C9-87F7D85C0424}"/>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共通改進方向三｜讓不同事例各有側重</a:t>
            </a:r>
          </a:p>
        </p:txBody>
      </p:sp>
      <p:sp>
        <p:nvSpPr>
          <p:cNvPr id="3" name="">
            <a:extLst xmlns:a="http://schemas.openxmlformats.org/drawingml/2006/main">
              <a:ext uri="{FF2B5EF4-FFF2-40B4-BE49-F238E27FC236}">
                <a16:creationId xmlns:a16="http://schemas.microsoft.com/office/drawing/2014/main" id="{A630B54B-7831-4DB9-9BA4-D936328DA4AF}"/>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原文</a:t>
            </a:r>
          </a:p>
        </p:txBody>
      </p:sp>
      <p:sp>
        <p:nvSpPr>
          <p:cNvPr id="4" name="">
            <a:extLst xmlns:a="http://schemas.openxmlformats.org/drawingml/2006/main">
              <a:ext uri="{FF2B5EF4-FFF2-40B4-BE49-F238E27FC236}">
                <a16:creationId xmlns:a16="http://schemas.microsoft.com/office/drawing/2014/main" id="{52C3E1CB-BA3D-4BC0-9497-285E56D1B655}"/>
              </a:ext>
            </a:extLst>
          </p:cNvPr>
          <p:cNvSpPr>
            <a:spLocks xmlns:a="http://schemas.openxmlformats.org/drawingml/2006/main" noGrp="1"/>
          </p:cNvSpPr>
          <p:nvPr/>
        </p:nvSpPr>
        <p:spPr>
          <a:xfrm xmlns:a="http://schemas.openxmlformats.org/drawingml/2006/main">
            <a:off x="609600" y="2162175"/>
            <a:ext cx="10972800" cy="471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大家經常欺負他。每次都讓他跑得遠遠的去撿罐子，經常拿他作為開玩笑的對象。</a:t>
            </a:r>
          </a:p>
        </p:txBody>
      </p:sp>
      <p:sp>
        <p:nvSpPr>
          <p:cNvPr id="5" name="">
            <a:extLst xmlns:a="http://schemas.openxmlformats.org/drawingml/2006/main">
              <a:ext uri="{FF2B5EF4-FFF2-40B4-BE49-F238E27FC236}">
                <a16:creationId xmlns:a16="http://schemas.microsoft.com/office/drawing/2014/main" id="{BB1A0F8F-8DA7-4495-85FB-D8E4A0587836}"/>
              </a:ext>
            </a:extLst>
          </p:cNvPr>
          <p:cNvSpPr>
            <a:spLocks xmlns:a="http://schemas.openxmlformats.org/drawingml/2006/main" noGrp="1"/>
          </p:cNvSpPr>
          <p:nvPr/>
        </p:nvSpPr>
        <p:spPr>
          <a:xfrm xmlns:a="http://schemas.openxmlformats.org/drawingml/2006/main">
            <a:off x="609600" y="2824353"/>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改進方向</a:t>
            </a:r>
          </a:p>
        </p:txBody>
      </p:sp>
      <p:sp>
        <p:nvSpPr>
          <p:cNvPr id="6" name="">
            <a:extLst xmlns:a="http://schemas.openxmlformats.org/drawingml/2006/main">
              <a:ext uri="{FF2B5EF4-FFF2-40B4-BE49-F238E27FC236}">
                <a16:creationId xmlns:a16="http://schemas.microsoft.com/office/drawing/2014/main" id="{CAFFBD01-B9AB-4E93-96BE-C2F02F254D6C}"/>
              </a:ext>
            </a:extLst>
          </p:cNvPr>
          <p:cNvSpPr>
            <a:spLocks xmlns:a="http://schemas.openxmlformats.org/drawingml/2006/main" noGrp="1"/>
          </p:cNvSpPr>
          <p:nvPr/>
        </p:nvSpPr>
        <p:spPr>
          <a:xfrm xmlns:a="http://schemas.openxmlformats.org/drawingml/2006/main">
            <a:off x="609600" y="3233928"/>
            <a:ext cx="1097280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增加事例：描寫歪兒在夥伴遇到困難時主動幫助，或在被誤解時依然保持寬容，從而贏得尊</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重。</a:t>
            </a:r>
          </a:p>
        </p:txBody>
      </p:sp>
      <p:sp>
        <p:nvSpPr>
          <p:cNvPr id="7" name="">
            <a:extLst xmlns:a="http://schemas.openxmlformats.org/drawingml/2006/main">
              <a:ext uri="{FF2B5EF4-FFF2-40B4-BE49-F238E27FC236}">
                <a16:creationId xmlns:a16="http://schemas.microsoft.com/office/drawing/2014/main" id="{E080D7BB-944D-413E-91C6-3F5150F04EFF}"/>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8" name="">
            <a:extLst xmlns:a="http://schemas.openxmlformats.org/drawingml/2006/main">
              <a:ext uri="{FF2B5EF4-FFF2-40B4-BE49-F238E27FC236}">
                <a16:creationId xmlns:a16="http://schemas.microsoft.com/office/drawing/2014/main" id="{5FD62147-3D48-4047-A0ED-9D169BB0419D}"/>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08／19</a:t>
            </a:r>
          </a:p>
        </p:txBody>
      </p:sp>
    </p:spTree>
    <p:extLst>
      <p:ext uri="{BB962C8B-B14F-4D97-AF65-F5344CB8AC3E}">
        <p14:creationId xmlns:p14="http://schemas.microsoft.com/office/powerpoint/2010/main" val="1737943355"/>
      </p:ext>
    </p:extLst>
  </p:cSld>
</p:sld>
</file>

<file path=ppt/slides/slide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6ED23A-4525-45E3-BA5A-00D97AF0D317}"/>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04　表達</a:t>
            </a:r>
          </a:p>
        </p:txBody>
      </p:sp>
      <p:sp>
        <p:nvSpPr>
          <p:cNvPr id="2" name="">
            <a:extLst xmlns:a="http://schemas.openxmlformats.org/drawingml/2006/main">
              <a:ext uri="{FF2B5EF4-FFF2-40B4-BE49-F238E27FC236}">
                <a16:creationId xmlns:a16="http://schemas.microsoft.com/office/drawing/2014/main" id="{4B444485-9D76-4F52-809A-9BD316D616C5}"/>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詞語選讀</a:t>
            </a:r>
          </a:p>
        </p:txBody>
      </p:sp>
      <p:graphicFrame>
        <p:nvGraphicFramePr>
          <p:cNvPr id="3" name="">
            <a:extLst xmlns:a="http://schemas.openxmlformats.org/drawingml/2006/main">
              <a:ext uri="{FF2B5EF4-FFF2-40B4-BE49-F238E27FC236}">
                <a16:creationId xmlns:a16="http://schemas.microsoft.com/office/drawing/2014/main" id="{F4BC16E7-0730-4EFD-A6AA-21582859DF65}"/>
              </a:ext>
            </a:extLst>
          </p:cNvPr>
          <p:cNvGraphicFramePr/>
          <p:nvPr/>
        </p:nvGraphicFramePr>
        <p:xfrm>
          <a:off xmlns:a="http://schemas.openxmlformats.org/drawingml/2006/main" x="609600" y="1847850"/>
          <a:ext xmlns:a="http://schemas.openxmlformats.org/drawingml/2006/main" cx="10972800" cy="4286250"/>
        </p:xfrm>
        <a:graphic xmlns:a="http://schemas.openxmlformats.org/drawingml/2006/main">
          <a:graphicData uri="http://schemas.openxmlformats.org/drawingml/2006/table">
            <a:tbl>
              <a:tblPr/>
              <a:tblGrid>
                <a:gridCol w="1714500"/>
                <a:gridCol w="4000500"/>
                <a:gridCol w="5257800"/>
              </a:tblGrid>
              <a:tr h="571500">
                <a:tc>
                  <a:txBody>
                    <a:bodyPr lIns="133350" tIns="133350" rIns="133350" bIns="133350">
                      <a:noAutofit/>
                    </a:bodyPr>
                    <a:lstStyle/>
                    <a:p>
                      <a:r>
                        <a:rPr sz="1725" b="1">
                          <a:solidFill>
                            <a:srgbClr val="126D73"/>
                          </a:solidFill>
                          <a:latin typeface="Arial Unicode MS"/>
                          <a:ea typeface="Arial Unicode MS"/>
                          <a:cs typeface="Arial Unicode MS"/>
                        </a:rPr>
                        <a:t>詞語</a:t>
                      </a:r>
                    </a:p>
                  </a:txBody>
                  <a:tcPr marL="91440" marR="91440" marT="45720" marB="45720" anchor="ctr">
                    <a:lnL w="9525">
                      <a:solidFill>
                        <a:srgbClr val="D5E0E3"/>
                      </a:solidFill>
                    </a:lnL>
                    <a:lnR w="9525">
                      <a:solidFill>
                        <a:srgbClr val="D5E0E3"/>
                      </a:solidFill>
                    </a:lnR>
                    <a:lnT w="9525">
                      <a:solidFill>
                        <a:srgbClr val="D5E0E3"/>
                      </a:solidFill>
                    </a:lnT>
                    <a:lnB w="9525">
                      <a:solidFill>
                        <a:srgbClr val="D5E0E3"/>
                      </a:solidFill>
                    </a:lnB>
                    <a:solidFill>
                      <a:srgbClr val="E8F0F1"/>
                    </a:solidFill>
                  </a:tcPr>
                </a:tc>
                <a:tc>
                  <a:txBody>
                    <a:bodyPr lIns="133350" tIns="133350" rIns="133350" bIns="133350">
                      <a:noAutofit/>
                    </a:bodyPr>
                    <a:lstStyle/>
                    <a:p>
                      <a:r>
                        <a:rPr sz="1725" b="1">
                          <a:solidFill>
                            <a:srgbClr val="126D73"/>
                          </a:solidFill>
                          <a:latin typeface="Arial Unicode MS"/>
                          <a:ea typeface="Arial Unicode MS"/>
                          <a:cs typeface="Arial Unicode MS"/>
                        </a:rPr>
                        <a:t>所在短句</a:t>
                      </a:r>
                    </a:p>
                  </a:txBody>
                  <a:tcPr marL="91440" marR="91440" marT="45720" marB="45720" anchor="ctr">
                    <a:lnR w="9525">
                      <a:solidFill>
                        <a:srgbClr val="D5E0E3"/>
                      </a:solidFill>
                    </a:lnR>
                    <a:lnT w="9525">
                      <a:solidFill>
                        <a:srgbClr val="D5E0E3"/>
                      </a:solidFill>
                    </a:lnT>
                    <a:lnB w="9525">
                      <a:solidFill>
                        <a:srgbClr val="D5E0E3"/>
                      </a:solidFill>
                    </a:lnB>
                    <a:solidFill>
                      <a:srgbClr val="E8F0F1"/>
                    </a:solidFill>
                  </a:tcPr>
                </a:tc>
                <a:tc>
                  <a:txBody>
                    <a:bodyPr lIns="133350" tIns="133350" rIns="133350" bIns="133350">
                      <a:noAutofit/>
                    </a:bodyPr>
                    <a:lstStyle/>
                    <a:p>
                      <a:r>
                        <a:rPr sz="1725" b="1">
                          <a:solidFill>
                            <a:srgbClr val="126D73"/>
                          </a:solidFill>
                          <a:latin typeface="Arial Unicode MS"/>
                          <a:ea typeface="Arial Unicode MS"/>
                          <a:cs typeface="Arial Unicode MS"/>
                        </a:rPr>
                        <a:t>已有賞析</a:t>
                      </a:r>
                    </a:p>
                  </a:txBody>
                  <a:tcPr marL="91440" marR="91440" marT="45720" marB="45720" anchor="ctr">
                    <a:lnR w="9525">
                      <a:solidFill>
                        <a:srgbClr val="D5E0E3"/>
                      </a:solidFill>
                    </a:lnR>
                    <a:lnT w="9525">
                      <a:solidFill>
                        <a:srgbClr val="D5E0E3"/>
                      </a:solidFill>
                    </a:lnT>
                    <a:lnB w="9525">
                      <a:solidFill>
                        <a:srgbClr val="D5E0E3"/>
                      </a:solidFill>
                    </a:lnB>
                    <a:solidFill>
                      <a:srgbClr val="E8F0F1"/>
                    </a:solidFill>
                  </a:tcPr>
                </a:tc>
              </a:tr>
              <a:tr h="1238250">
                <a:tc>
                  <a:txBody>
                    <a:bodyPr lIns="133350" tIns="133350" rIns="133350" bIns="133350">
                      <a:noAutofit/>
                    </a:bodyPr>
                    <a:lstStyle/>
                    <a:p>
                      <a:r>
                        <a:rPr sz="1725" b="0">
                          <a:solidFill>
                            <a:srgbClr val="233441"/>
                          </a:solidFill>
                          <a:latin typeface="Arial Unicode MS"/>
                          <a:ea typeface="Arial Unicode MS"/>
                          <a:cs typeface="Arial Unicode MS"/>
                        </a:rPr>
                        <a:t>歪歪扭扭</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1725" b="0">
                          <a:solidFill>
                            <a:srgbClr val="233441"/>
                          </a:solidFill>
                          <a:latin typeface="Arial Unicode MS"/>
                          <a:ea typeface="Arial Unicode MS"/>
                          <a:cs typeface="Arial Unicode MS"/>
                        </a:rPr>
                        <a:t>我今天要介紹的一個生來歪歪扭扭略有畸形的小人物——歪兒。</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1725" b="0">
                          <a:solidFill>
                            <a:srgbClr val="233441"/>
                          </a:solidFill>
                          <a:latin typeface="Arial Unicode MS"/>
                          <a:ea typeface="Arial Unicode MS"/>
                          <a:cs typeface="Arial Unicode MS"/>
                        </a:rPr>
                        <a:t>使用疊詞「歪歪扭扭」及破折號引出人物，形象地勾勒出人物的外形特徵，語言簡練且具畫面感。</a:t>
                      </a:r>
                    </a:p>
                  </a:txBody>
                  <a:tcPr marL="91440" marR="91440" marT="45720" marB="45720" anchor="ctr">
                    <a:lnR w="9525">
                      <a:solidFill>
                        <a:srgbClr val="D5E0E3"/>
                      </a:solidFill>
                    </a:lnR>
                    <a:lnB w="9525">
                      <a:solidFill>
                        <a:srgbClr val="D5E0E3"/>
                      </a:solidFill>
                    </a:lnB>
                    <a:solidFill>
                      <a:srgbClr val="F7F9FA"/>
                    </a:solidFill>
                  </a:tcPr>
                </a:tc>
              </a:tr>
              <a:tr h="1238250">
                <a:tc>
                  <a:txBody>
                    <a:bodyPr lIns="133350" tIns="133350" rIns="133350" bIns="133350">
                      <a:noAutofit/>
                    </a:bodyPr>
                    <a:lstStyle/>
                    <a:p>
                      <a:r>
                        <a:rPr sz="1725" b="0">
                          <a:solidFill>
                            <a:srgbClr val="233441"/>
                          </a:solidFill>
                          <a:latin typeface="Arial Unicode MS"/>
                          <a:ea typeface="Arial Unicode MS"/>
                          <a:cs typeface="Arial Unicode MS"/>
                        </a:rPr>
                        <a:t>車水馬龍、熱鬧非凡</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1725" b="0">
                          <a:solidFill>
                            <a:srgbClr val="233441"/>
                          </a:solidFill>
                          <a:latin typeface="Arial Unicode MS"/>
                          <a:ea typeface="Arial Unicode MS"/>
                          <a:cs typeface="Arial Unicode MS"/>
                        </a:rPr>
                        <a:t>看到這車水馬龍、熱鬧非凡的場面，</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1725" b="0">
                          <a:solidFill>
                            <a:srgbClr val="233441"/>
                          </a:solidFill>
                          <a:latin typeface="Arial Unicode MS"/>
                          <a:ea typeface="Arial Unicode MS"/>
                          <a:cs typeface="Arial Unicode MS"/>
                        </a:rPr>
                        <a:t>準確使用成語描繪李樹下人群聚集、喧囂繁雜的景象，簡練地勾勒出迷信活動帶來的虛假繁榮，語言精煉。</a:t>
                      </a:r>
                    </a:p>
                  </a:txBody>
                  <a:tcPr marL="91440" marR="91440" marT="45720" marB="45720" anchor="ctr">
                    <a:lnR w="9525">
                      <a:solidFill>
                        <a:srgbClr val="D5E0E3"/>
                      </a:solidFill>
                    </a:lnR>
                    <a:lnB w="9525">
                      <a:solidFill>
                        <a:srgbClr val="D5E0E3"/>
                      </a:solidFill>
                    </a:lnB>
                    <a:solidFill>
                      <a:srgbClr val="F7F9FA"/>
                    </a:solidFill>
                  </a:tcPr>
                </a:tc>
              </a:tr>
              <a:tr h="1238250">
                <a:tc>
                  <a:txBody>
                    <a:bodyPr lIns="133350" tIns="133350" rIns="133350" bIns="133350">
                      <a:noAutofit/>
                    </a:bodyPr>
                    <a:lstStyle/>
                    <a:p>
                      <a:r>
                        <a:rPr sz="1725" b="0">
                          <a:solidFill>
                            <a:srgbClr val="233441"/>
                          </a:solidFill>
                          <a:latin typeface="Arial Unicode MS"/>
                          <a:ea typeface="Arial Unicode MS"/>
                          <a:cs typeface="Arial Unicode MS"/>
                        </a:rPr>
                        <a:t>鋪滿地上</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1725" b="0">
                          <a:solidFill>
                            <a:srgbClr val="233441"/>
                          </a:solidFill>
                          <a:latin typeface="Arial Unicode MS"/>
                          <a:ea typeface="Arial Unicode MS"/>
                          <a:cs typeface="Arial Unicode MS"/>
                        </a:rPr>
                        <a:t>供奉的酒肉多得鋪滿地上。</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1725" b="0">
                          <a:solidFill>
                            <a:srgbClr val="233441"/>
                          </a:solidFill>
                          <a:latin typeface="Arial Unicode MS"/>
                          <a:ea typeface="Arial Unicode MS"/>
                          <a:cs typeface="Arial Unicode MS"/>
                        </a:rPr>
                        <a:t>通過「鋪滿地上」這一具體細節，誇張而直觀地呈現了當時迷信風氣之盛及場面之混亂，為後文張助的冷靜形成強烈反差。</a:t>
                      </a:r>
                    </a:p>
                  </a:txBody>
                  <a:tcPr marL="91440" marR="91440" marT="45720" marB="45720" anchor="ctr">
                    <a:lnR w="9525">
                      <a:solidFill>
                        <a:srgbClr val="D5E0E3"/>
                      </a:solidFill>
                    </a:lnR>
                    <a:lnB w="9525">
                      <a:solidFill>
                        <a:srgbClr val="D5E0E3"/>
                      </a:solidFill>
                    </a:lnB>
                    <a:solidFill>
                      <a:srgbClr val="F7F9FA"/>
                    </a:solidFill>
                  </a:tcPr>
                </a:tc>
              </a:tr>
            </a:tbl>
          </a:graphicData>
        </a:graphic>
      </p:graphicFrame>
      <p:sp>
        <p:nvSpPr>
          <p:cNvPr id="4" name="">
            <a:extLst xmlns:a="http://schemas.openxmlformats.org/drawingml/2006/main">
              <a:ext uri="{FF2B5EF4-FFF2-40B4-BE49-F238E27FC236}">
                <a16:creationId xmlns:a16="http://schemas.microsoft.com/office/drawing/2014/main" id="{6E578E1B-FC7E-46F6-96F2-798A66EB361B}"/>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5" name="">
            <a:extLst xmlns:a="http://schemas.openxmlformats.org/drawingml/2006/main">
              <a:ext uri="{FF2B5EF4-FFF2-40B4-BE49-F238E27FC236}">
                <a16:creationId xmlns:a16="http://schemas.microsoft.com/office/drawing/2014/main" id="{FB5A73F6-6F35-4496-A5D3-CC8186BA64B9}"/>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09／19</a:t>
            </a:r>
          </a:p>
        </p:txBody>
      </p:sp>
    </p:spTree>
    <p:extLst>
      <p:ext uri="{BB962C8B-B14F-4D97-AF65-F5344CB8AC3E}">
        <p14:creationId xmlns:p14="http://schemas.microsoft.com/office/powerpoint/2010/main" val="1609416850"/>
      </p:ext>
    </p:extLst>
  </p:cSld>
</p:sld>
</file>

<file path=ppt/slides/slide1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8900BB-6FEA-4AED-BBF1-256C0D4F4F73}"/>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04　表達</a:t>
            </a:r>
          </a:p>
        </p:txBody>
      </p:sp>
      <p:sp>
        <p:nvSpPr>
          <p:cNvPr id="2" name="">
            <a:extLst xmlns:a="http://schemas.openxmlformats.org/drawingml/2006/main">
              <a:ext uri="{FF2B5EF4-FFF2-40B4-BE49-F238E27FC236}">
                <a16:creationId xmlns:a16="http://schemas.microsoft.com/office/drawing/2014/main" id="{0164BC0A-26A3-4EB3-87A5-FCE78287B966}"/>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觀點表達</a:t>
            </a:r>
          </a:p>
        </p:txBody>
      </p:sp>
      <p:sp>
        <p:nvSpPr>
          <p:cNvPr id="3" name="">
            <a:extLst xmlns:a="http://schemas.openxmlformats.org/drawingml/2006/main">
              <a:ext uri="{FF2B5EF4-FFF2-40B4-BE49-F238E27FC236}">
                <a16:creationId xmlns:a16="http://schemas.microsoft.com/office/drawing/2014/main" id="{21D78F2A-B5DD-49FC-9894-981A1A612087}"/>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原文</a:t>
            </a:r>
          </a:p>
        </p:txBody>
      </p:sp>
      <p:sp>
        <p:nvSpPr>
          <p:cNvPr id="4" name="">
            <a:extLst xmlns:a="http://schemas.openxmlformats.org/drawingml/2006/main">
              <a:ext uri="{FF2B5EF4-FFF2-40B4-BE49-F238E27FC236}">
                <a16:creationId xmlns:a16="http://schemas.microsoft.com/office/drawing/2014/main" id="{EAD32697-3F4C-4E99-9956-7CC2AD93E779}"/>
              </a:ext>
            </a:extLst>
          </p:cNvPr>
          <p:cNvSpPr>
            <a:spLocks xmlns:a="http://schemas.openxmlformats.org/drawingml/2006/main" noGrp="1"/>
          </p:cNvSpPr>
          <p:nvPr/>
        </p:nvSpPr>
        <p:spPr>
          <a:xfrm xmlns:a="http://schemas.openxmlformats.org/drawingml/2006/main">
            <a:off x="609600" y="2162175"/>
            <a:ext cx="1097280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我的啟發是這故事讓我明白「大智若愚」的道理。聰明是好事，但更要懂得謙虛和尊重他</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人。</a:t>
            </a:r>
          </a:p>
        </p:txBody>
      </p:sp>
      <p:sp>
        <p:nvSpPr>
          <p:cNvPr id="5" name="">
            <a:extLst xmlns:a="http://schemas.openxmlformats.org/drawingml/2006/main">
              <a:ext uri="{FF2B5EF4-FFF2-40B4-BE49-F238E27FC236}">
                <a16:creationId xmlns:a16="http://schemas.microsoft.com/office/drawing/2014/main" id="{B1B1F7BA-8D94-49DD-BB90-B145839E72AF}"/>
              </a:ext>
            </a:extLst>
          </p:cNvPr>
          <p:cNvSpPr>
            <a:spLocks xmlns:a="http://schemas.openxmlformats.org/drawingml/2006/main" noGrp="1"/>
          </p:cNvSpPr>
          <p:nvPr/>
        </p:nvSpPr>
        <p:spPr>
          <a:xfrm xmlns:a="http://schemas.openxmlformats.org/drawingml/2006/main">
            <a:off x="609600" y="3181731"/>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佳句賞析</a:t>
            </a:r>
          </a:p>
        </p:txBody>
      </p:sp>
      <p:sp>
        <p:nvSpPr>
          <p:cNvPr id="6" name="">
            <a:extLst xmlns:a="http://schemas.openxmlformats.org/drawingml/2006/main">
              <a:ext uri="{FF2B5EF4-FFF2-40B4-BE49-F238E27FC236}">
                <a16:creationId xmlns:a16="http://schemas.microsoft.com/office/drawing/2014/main" id="{1AD119B3-4795-4D34-8D56-32D472EC8F3F}"/>
              </a:ext>
            </a:extLst>
          </p:cNvPr>
          <p:cNvSpPr>
            <a:spLocks xmlns:a="http://schemas.openxmlformats.org/drawingml/2006/main" noGrp="1"/>
          </p:cNvSpPr>
          <p:nvPr/>
        </p:nvSpPr>
        <p:spPr>
          <a:xfrm xmlns:a="http://schemas.openxmlformats.org/drawingml/2006/main">
            <a:off x="609600" y="3591306"/>
            <a:ext cx="1097280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語言樸實真摯，觀點明確，直接點出從人物悲劇中提煉出的核心價值觀，符合議論文段的表</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達規範。</a:t>
            </a:r>
          </a:p>
        </p:txBody>
      </p:sp>
      <p:sp>
        <p:nvSpPr>
          <p:cNvPr id="7" name="">
            <a:extLst xmlns:a="http://schemas.openxmlformats.org/drawingml/2006/main">
              <a:ext uri="{FF2B5EF4-FFF2-40B4-BE49-F238E27FC236}">
                <a16:creationId xmlns:a16="http://schemas.microsoft.com/office/drawing/2014/main" id="{104F3A29-D385-44A8-B8DB-DE6DA65C616A}"/>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8" name="">
            <a:extLst xmlns:a="http://schemas.openxmlformats.org/drawingml/2006/main">
              <a:ext uri="{FF2B5EF4-FFF2-40B4-BE49-F238E27FC236}">
                <a16:creationId xmlns:a16="http://schemas.microsoft.com/office/drawing/2014/main" id="{D022B9FA-4C12-46BD-B4CA-E0B2603241CA}"/>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10／19</a:t>
            </a:r>
          </a:p>
        </p:txBody>
      </p:sp>
    </p:spTree>
    <p:extLst>
      <p:ext uri="{BB962C8B-B14F-4D97-AF65-F5344CB8AC3E}">
        <p14:creationId xmlns:p14="http://schemas.microsoft.com/office/powerpoint/2010/main" val="1245552099"/>
      </p:ext>
    </p:extLst>
  </p:cSld>
</p:sld>
</file>

<file path=ppt/slides/slide1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32C048-9838-4FED-A1B1-A738CE08BA19}"/>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04　表達</a:t>
            </a:r>
          </a:p>
        </p:txBody>
      </p:sp>
      <p:sp>
        <p:nvSpPr>
          <p:cNvPr id="2" name="">
            <a:extLst xmlns:a="http://schemas.openxmlformats.org/drawingml/2006/main">
              <a:ext uri="{FF2B5EF4-FFF2-40B4-BE49-F238E27FC236}">
                <a16:creationId xmlns:a16="http://schemas.microsoft.com/office/drawing/2014/main" id="{6D6D71ED-4A45-4ED6-91AF-5C507C44816F}"/>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比喻</a:t>
            </a:r>
          </a:p>
        </p:txBody>
      </p:sp>
      <p:sp>
        <p:nvSpPr>
          <p:cNvPr id="3" name="">
            <a:extLst xmlns:a="http://schemas.openxmlformats.org/drawingml/2006/main">
              <a:ext uri="{FF2B5EF4-FFF2-40B4-BE49-F238E27FC236}">
                <a16:creationId xmlns:a16="http://schemas.microsoft.com/office/drawing/2014/main" id="{E114AB9F-AFA2-44FF-824A-79C4FEC82138}"/>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原文</a:t>
            </a:r>
          </a:p>
        </p:txBody>
      </p:sp>
      <p:sp>
        <p:nvSpPr>
          <p:cNvPr id="4" name="">
            <a:extLst xmlns:a="http://schemas.openxmlformats.org/drawingml/2006/main">
              <a:ext uri="{FF2B5EF4-FFF2-40B4-BE49-F238E27FC236}">
                <a16:creationId xmlns:a16="http://schemas.microsoft.com/office/drawing/2014/main" id="{D893129C-B987-469E-9240-C503261CE580}"/>
              </a:ext>
            </a:extLst>
          </p:cNvPr>
          <p:cNvSpPr>
            <a:spLocks xmlns:a="http://schemas.openxmlformats.org/drawingml/2006/main" noGrp="1"/>
          </p:cNvSpPr>
          <p:nvPr/>
        </p:nvSpPr>
        <p:spPr>
          <a:xfrm xmlns:a="http://schemas.openxmlformats.org/drawingml/2006/main">
            <a:off x="609600" y="2162175"/>
            <a:ext cx="10972800" cy="471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消息就像犬吠一樣互相和應，甚至訛傳成瞎子都恢復了視力，</a:t>
            </a:r>
          </a:p>
        </p:txBody>
      </p:sp>
      <p:sp>
        <p:nvSpPr>
          <p:cNvPr id="5" name="">
            <a:extLst xmlns:a="http://schemas.openxmlformats.org/drawingml/2006/main">
              <a:ext uri="{FF2B5EF4-FFF2-40B4-BE49-F238E27FC236}">
                <a16:creationId xmlns:a16="http://schemas.microsoft.com/office/drawing/2014/main" id="{3DF0B96E-954D-427B-970D-C62691FD6A1D}"/>
              </a:ext>
            </a:extLst>
          </p:cNvPr>
          <p:cNvSpPr>
            <a:spLocks xmlns:a="http://schemas.openxmlformats.org/drawingml/2006/main" noGrp="1"/>
          </p:cNvSpPr>
          <p:nvPr/>
        </p:nvSpPr>
        <p:spPr>
          <a:xfrm xmlns:a="http://schemas.openxmlformats.org/drawingml/2006/main">
            <a:off x="609600" y="2824353"/>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佳句賞析</a:t>
            </a:r>
          </a:p>
        </p:txBody>
      </p:sp>
      <p:sp>
        <p:nvSpPr>
          <p:cNvPr id="6" name="">
            <a:extLst xmlns:a="http://schemas.openxmlformats.org/drawingml/2006/main">
              <a:ext uri="{FF2B5EF4-FFF2-40B4-BE49-F238E27FC236}">
                <a16:creationId xmlns:a16="http://schemas.microsoft.com/office/drawing/2014/main" id="{B53428A0-59F3-4C06-A176-1AF00F1DAE24}"/>
              </a:ext>
            </a:extLst>
          </p:cNvPr>
          <p:cNvSpPr>
            <a:spLocks xmlns:a="http://schemas.openxmlformats.org/drawingml/2006/main" noGrp="1"/>
          </p:cNvSpPr>
          <p:nvPr/>
        </p:nvSpPr>
        <p:spPr>
          <a:xfrm xmlns:a="http://schemas.openxmlformats.org/drawingml/2006/main">
            <a:off x="609600" y="3233928"/>
            <a:ext cx="1097280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運用比喻手法，將盲目傳播謠言的聲音比作犬吠，生動形象地諷刺了眾人盲從、缺乏獨立思</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考的荒誕現象，極具畫面感與批判力。</a:t>
            </a:r>
          </a:p>
        </p:txBody>
      </p:sp>
      <p:sp>
        <p:nvSpPr>
          <p:cNvPr id="7" name="">
            <a:extLst xmlns:a="http://schemas.openxmlformats.org/drawingml/2006/main">
              <a:ext uri="{FF2B5EF4-FFF2-40B4-BE49-F238E27FC236}">
                <a16:creationId xmlns:a16="http://schemas.microsoft.com/office/drawing/2014/main" id="{54F70711-B673-44A7-B884-96E72E9E5929}"/>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8" name="">
            <a:extLst xmlns:a="http://schemas.openxmlformats.org/drawingml/2006/main">
              <a:ext uri="{FF2B5EF4-FFF2-40B4-BE49-F238E27FC236}">
                <a16:creationId xmlns:a16="http://schemas.microsoft.com/office/drawing/2014/main" id="{27C77740-0F5E-4B8E-9DC1-45538AE3C279}"/>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11／19</a:t>
            </a:r>
          </a:p>
        </p:txBody>
      </p:sp>
    </p:spTree>
    <p:extLst>
      <p:ext uri="{BB962C8B-B14F-4D97-AF65-F5344CB8AC3E}">
        <p14:creationId xmlns:p14="http://schemas.microsoft.com/office/powerpoint/2010/main" val="388507397"/>
      </p:ext>
    </p:extLst>
  </p:cSld>
</p:sld>
</file>

<file path=ppt/slides/slide1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9071B5-13DD-41B2-AC56-FD71EF63DA16}"/>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04　表達</a:t>
            </a:r>
          </a:p>
        </p:txBody>
      </p:sp>
      <p:sp>
        <p:nvSpPr>
          <p:cNvPr id="2" name="">
            <a:extLst xmlns:a="http://schemas.openxmlformats.org/drawingml/2006/main">
              <a:ext uri="{FF2B5EF4-FFF2-40B4-BE49-F238E27FC236}">
                <a16:creationId xmlns:a16="http://schemas.microsoft.com/office/drawing/2014/main" id="{8A8C7ACA-465F-40C3-8146-6DD7F5DA3AD6}"/>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側面描寫</a:t>
            </a:r>
          </a:p>
        </p:txBody>
      </p:sp>
      <p:sp>
        <p:nvSpPr>
          <p:cNvPr id="3" name="">
            <a:extLst xmlns:a="http://schemas.openxmlformats.org/drawingml/2006/main">
              <a:ext uri="{FF2B5EF4-FFF2-40B4-BE49-F238E27FC236}">
                <a16:creationId xmlns:a16="http://schemas.microsoft.com/office/drawing/2014/main" id="{4B30A78F-FBED-409E-9DBD-56446A59EF4E}"/>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原文</a:t>
            </a:r>
          </a:p>
        </p:txBody>
      </p:sp>
      <p:sp>
        <p:nvSpPr>
          <p:cNvPr id="4" name="">
            <a:extLst xmlns:a="http://schemas.openxmlformats.org/drawingml/2006/main">
              <a:ext uri="{FF2B5EF4-FFF2-40B4-BE49-F238E27FC236}">
                <a16:creationId xmlns:a16="http://schemas.microsoft.com/office/drawing/2014/main" id="{625D09AF-106F-4356-A992-115CFD38C820}"/>
              </a:ext>
            </a:extLst>
          </p:cNvPr>
          <p:cNvSpPr>
            <a:spLocks xmlns:a="http://schemas.openxmlformats.org/drawingml/2006/main" noGrp="1"/>
          </p:cNvSpPr>
          <p:nvPr/>
        </p:nvSpPr>
        <p:spPr>
          <a:xfrm xmlns:a="http://schemas.openxmlformats.org/drawingml/2006/main">
            <a:off x="609600" y="2162175"/>
            <a:ext cx="10972800" cy="471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夏候惇道：「先生真明白魏王內心的想法啊！」</a:t>
            </a:r>
          </a:p>
        </p:txBody>
      </p:sp>
      <p:sp>
        <p:nvSpPr>
          <p:cNvPr id="5" name="">
            <a:extLst xmlns:a="http://schemas.openxmlformats.org/drawingml/2006/main">
              <a:ext uri="{FF2B5EF4-FFF2-40B4-BE49-F238E27FC236}">
                <a16:creationId xmlns:a16="http://schemas.microsoft.com/office/drawing/2014/main" id="{3708F15D-07AB-439A-8679-6A28BBC1D50F}"/>
              </a:ext>
            </a:extLst>
          </p:cNvPr>
          <p:cNvSpPr>
            <a:spLocks xmlns:a="http://schemas.openxmlformats.org/drawingml/2006/main" noGrp="1"/>
          </p:cNvSpPr>
          <p:nvPr/>
        </p:nvSpPr>
        <p:spPr>
          <a:xfrm xmlns:a="http://schemas.openxmlformats.org/drawingml/2006/main">
            <a:off x="609600" y="2824353"/>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佳句賞析</a:t>
            </a:r>
          </a:p>
        </p:txBody>
      </p:sp>
      <p:sp>
        <p:nvSpPr>
          <p:cNvPr id="6" name="">
            <a:extLst xmlns:a="http://schemas.openxmlformats.org/drawingml/2006/main">
              <a:ext uri="{FF2B5EF4-FFF2-40B4-BE49-F238E27FC236}">
                <a16:creationId xmlns:a16="http://schemas.microsoft.com/office/drawing/2014/main" id="{73FBC63A-71EB-40AB-BD4D-D4A1A3C1B935}"/>
              </a:ext>
            </a:extLst>
          </p:cNvPr>
          <p:cNvSpPr>
            <a:spLocks xmlns:a="http://schemas.openxmlformats.org/drawingml/2006/main" noGrp="1"/>
          </p:cNvSpPr>
          <p:nvPr/>
        </p:nvSpPr>
        <p:spPr>
          <a:xfrm xmlns:a="http://schemas.openxmlformats.org/drawingml/2006/main">
            <a:off x="609600" y="3233928"/>
            <a:ext cx="1097280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通過側面描寫，藉助夏侯惇的感嘆來烘托楊修的才智，比直接敘述更具說服力，也豐富了文</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章的敘事視角。</a:t>
            </a:r>
          </a:p>
        </p:txBody>
      </p:sp>
      <p:sp>
        <p:nvSpPr>
          <p:cNvPr id="7" name="">
            <a:extLst xmlns:a="http://schemas.openxmlformats.org/drawingml/2006/main">
              <a:ext uri="{FF2B5EF4-FFF2-40B4-BE49-F238E27FC236}">
                <a16:creationId xmlns:a16="http://schemas.microsoft.com/office/drawing/2014/main" id="{C543EA93-671F-4E28-B1C3-0DE17088FCC7}"/>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8" name="">
            <a:extLst xmlns:a="http://schemas.openxmlformats.org/drawingml/2006/main">
              <a:ext uri="{FF2B5EF4-FFF2-40B4-BE49-F238E27FC236}">
                <a16:creationId xmlns:a16="http://schemas.microsoft.com/office/drawing/2014/main" id="{786C20A0-D416-478D-8BB2-14C84DDE4DE5}"/>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12／19</a:t>
            </a:r>
          </a:p>
        </p:txBody>
      </p:sp>
    </p:spTree>
    <p:extLst>
      <p:ext uri="{BB962C8B-B14F-4D97-AF65-F5344CB8AC3E}">
        <p14:creationId xmlns:p14="http://schemas.microsoft.com/office/powerpoint/2010/main" val="561730552"/>
      </p:ext>
    </p:extLst>
  </p:cSld>
</p:sld>
</file>

<file path=ppt/slides/slide1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BFEE77-B91E-4F08-9A5A-2665772BDBDF}"/>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04　表達</a:t>
            </a:r>
          </a:p>
        </p:txBody>
      </p:sp>
      <p:sp>
        <p:nvSpPr>
          <p:cNvPr id="2" name="">
            <a:extLst xmlns:a="http://schemas.openxmlformats.org/drawingml/2006/main">
              <a:ext uri="{FF2B5EF4-FFF2-40B4-BE49-F238E27FC236}">
                <a16:creationId xmlns:a16="http://schemas.microsoft.com/office/drawing/2014/main" id="{F13D8800-EC29-4F39-8906-31CF3C89CE3D}"/>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語句修訂</a:t>
            </a:r>
          </a:p>
        </p:txBody>
      </p:sp>
      <p:sp>
        <p:nvSpPr>
          <p:cNvPr id="3" name="">
            <a:extLst xmlns:a="http://schemas.openxmlformats.org/drawingml/2006/main">
              <a:ext uri="{FF2B5EF4-FFF2-40B4-BE49-F238E27FC236}">
                <a16:creationId xmlns:a16="http://schemas.microsoft.com/office/drawing/2014/main" id="{F5135BC1-A3F5-468E-B2C1-CB2D3F54BC5D}"/>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原文</a:t>
            </a:r>
          </a:p>
        </p:txBody>
      </p:sp>
      <p:sp>
        <p:nvSpPr>
          <p:cNvPr id="4" name="">
            <a:extLst xmlns:a="http://schemas.openxmlformats.org/drawingml/2006/main">
              <a:ext uri="{FF2B5EF4-FFF2-40B4-BE49-F238E27FC236}">
                <a16:creationId xmlns:a16="http://schemas.microsoft.com/office/drawing/2014/main" id="{9EB41B72-753A-46EE-8206-0CFDEB9E585C}"/>
              </a:ext>
            </a:extLst>
          </p:cNvPr>
          <p:cNvSpPr>
            <a:spLocks xmlns:a="http://schemas.openxmlformats.org/drawingml/2006/main" noGrp="1"/>
          </p:cNvSpPr>
          <p:nvPr/>
        </p:nvSpPr>
        <p:spPr>
          <a:xfrm xmlns:a="http://schemas.openxmlformats.org/drawingml/2006/main">
            <a:off x="609600" y="2162175"/>
            <a:ext cx="10972800" cy="471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於是曹操拿走刀斧手把楊修推出去斬殺。</a:t>
            </a:r>
          </a:p>
        </p:txBody>
      </p:sp>
      <p:sp>
        <p:nvSpPr>
          <p:cNvPr id="5" name="">
            <a:extLst xmlns:a="http://schemas.openxmlformats.org/drawingml/2006/main">
              <a:ext uri="{FF2B5EF4-FFF2-40B4-BE49-F238E27FC236}">
                <a16:creationId xmlns:a16="http://schemas.microsoft.com/office/drawing/2014/main" id="{AD877A65-4EED-46E8-A24F-858DFC376777}"/>
              </a:ext>
            </a:extLst>
          </p:cNvPr>
          <p:cNvSpPr>
            <a:spLocks xmlns:a="http://schemas.openxmlformats.org/drawingml/2006/main" noGrp="1"/>
          </p:cNvSpPr>
          <p:nvPr/>
        </p:nvSpPr>
        <p:spPr>
          <a:xfrm xmlns:a="http://schemas.openxmlformats.org/drawingml/2006/main">
            <a:off x="609600" y="2824353"/>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優化建議</a:t>
            </a:r>
          </a:p>
        </p:txBody>
      </p:sp>
      <p:sp>
        <p:nvSpPr>
          <p:cNvPr id="6" name="">
            <a:extLst xmlns:a="http://schemas.openxmlformats.org/drawingml/2006/main">
              <a:ext uri="{FF2B5EF4-FFF2-40B4-BE49-F238E27FC236}">
                <a16:creationId xmlns:a16="http://schemas.microsoft.com/office/drawing/2014/main" id="{8468AB34-58BB-4637-B2F1-698EBE18F24D}"/>
              </a:ext>
            </a:extLst>
          </p:cNvPr>
          <p:cNvSpPr>
            <a:spLocks xmlns:a="http://schemas.openxmlformats.org/drawingml/2006/main" noGrp="1"/>
          </p:cNvSpPr>
          <p:nvPr/>
        </p:nvSpPr>
        <p:spPr>
          <a:xfrm xmlns:a="http://schemas.openxmlformats.org/drawingml/2006/main">
            <a:off x="609600" y="3233928"/>
            <a:ext cx="10972800" cy="471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改為「曹操大怒，喚來刀斧手，將楊修推出斬首」。</a:t>
            </a:r>
          </a:p>
        </p:txBody>
      </p:sp>
      <p:sp>
        <p:nvSpPr>
          <p:cNvPr id="7" name="">
            <a:extLst xmlns:a="http://schemas.openxmlformats.org/drawingml/2006/main">
              <a:ext uri="{FF2B5EF4-FFF2-40B4-BE49-F238E27FC236}">
                <a16:creationId xmlns:a16="http://schemas.microsoft.com/office/drawing/2014/main" id="{D1EBCAAD-C6E8-42D0-BEF4-E4FB71821B74}"/>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8" name="">
            <a:extLst xmlns:a="http://schemas.openxmlformats.org/drawingml/2006/main">
              <a:ext uri="{FF2B5EF4-FFF2-40B4-BE49-F238E27FC236}">
                <a16:creationId xmlns:a16="http://schemas.microsoft.com/office/drawing/2014/main" id="{56FE0056-51D6-4C1F-80E2-C72DD4C5CA7C}"/>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13／19</a:t>
            </a:r>
          </a:p>
        </p:txBody>
      </p:sp>
    </p:spTree>
    <p:extLst>
      <p:ext uri="{BB962C8B-B14F-4D97-AF65-F5344CB8AC3E}">
        <p14:creationId xmlns:p14="http://schemas.microsoft.com/office/powerpoint/2010/main" val="1894835596"/>
      </p:ext>
    </p:extLst>
  </p:cSld>
</p:sld>
</file>

<file path=ppt/slides/slide1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EF103A-63A2-44B0-9B2F-669B0B724837}"/>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05　結構</a:t>
            </a:r>
          </a:p>
        </p:txBody>
      </p:sp>
      <p:sp>
        <p:nvSpPr>
          <p:cNvPr id="2" name="">
            <a:extLst xmlns:a="http://schemas.openxmlformats.org/drawingml/2006/main">
              <a:ext uri="{FF2B5EF4-FFF2-40B4-BE49-F238E27FC236}">
                <a16:creationId xmlns:a16="http://schemas.microsoft.com/office/drawing/2014/main" id="{27B20C6C-615B-437F-ACAB-064D545B025C}"/>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開頭選讀</a:t>
            </a:r>
          </a:p>
        </p:txBody>
      </p:sp>
      <p:sp>
        <p:nvSpPr>
          <p:cNvPr id="3" name="">
            <a:extLst xmlns:a="http://schemas.openxmlformats.org/drawingml/2006/main">
              <a:ext uri="{FF2B5EF4-FFF2-40B4-BE49-F238E27FC236}">
                <a16:creationId xmlns:a16="http://schemas.microsoft.com/office/drawing/2014/main" id="{13C14691-05F1-4289-A715-7AF5BE1C7FBE}"/>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原文</a:t>
            </a:r>
          </a:p>
        </p:txBody>
      </p:sp>
      <p:sp>
        <p:nvSpPr>
          <p:cNvPr id="4" name="">
            <a:extLst xmlns:a="http://schemas.openxmlformats.org/drawingml/2006/main">
              <a:ext uri="{FF2B5EF4-FFF2-40B4-BE49-F238E27FC236}">
                <a16:creationId xmlns:a16="http://schemas.microsoft.com/office/drawing/2014/main" id="{655F228E-8523-4929-92DE-7A0659103D08}"/>
              </a:ext>
            </a:extLst>
          </p:cNvPr>
          <p:cNvSpPr>
            <a:spLocks xmlns:a="http://schemas.openxmlformats.org/drawingml/2006/main" noGrp="1"/>
          </p:cNvSpPr>
          <p:nvPr/>
        </p:nvSpPr>
        <p:spPr>
          <a:xfrm xmlns:a="http://schemas.openxmlformats.org/drawingml/2006/main">
            <a:off x="609600" y="2162175"/>
            <a:ext cx="10972800" cy="471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雖然他最後因為恃才放曠被曹操斬殺了，但我喜歡是他的才智。</a:t>
            </a:r>
          </a:p>
        </p:txBody>
      </p:sp>
      <p:sp>
        <p:nvSpPr>
          <p:cNvPr id="5" name="">
            <a:extLst xmlns:a="http://schemas.openxmlformats.org/drawingml/2006/main">
              <a:ext uri="{FF2B5EF4-FFF2-40B4-BE49-F238E27FC236}">
                <a16:creationId xmlns:a16="http://schemas.microsoft.com/office/drawing/2014/main" id="{28440F46-10BA-4E62-8CC5-3DD7F1ADF432}"/>
              </a:ext>
            </a:extLst>
          </p:cNvPr>
          <p:cNvSpPr>
            <a:spLocks xmlns:a="http://schemas.openxmlformats.org/drawingml/2006/main" noGrp="1"/>
          </p:cNvSpPr>
          <p:nvPr/>
        </p:nvSpPr>
        <p:spPr>
          <a:xfrm xmlns:a="http://schemas.openxmlformats.org/drawingml/2006/main">
            <a:off x="609600" y="2824353"/>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佳句賞析</a:t>
            </a:r>
          </a:p>
        </p:txBody>
      </p:sp>
      <p:sp>
        <p:nvSpPr>
          <p:cNvPr id="6" name="">
            <a:extLst xmlns:a="http://schemas.openxmlformats.org/drawingml/2006/main">
              <a:ext uri="{FF2B5EF4-FFF2-40B4-BE49-F238E27FC236}">
                <a16:creationId xmlns:a16="http://schemas.microsoft.com/office/drawing/2014/main" id="{3442BF25-221B-4E85-A6B7-F92CA2B3A4A1}"/>
              </a:ext>
            </a:extLst>
          </p:cNvPr>
          <p:cNvSpPr>
            <a:spLocks xmlns:a="http://schemas.openxmlformats.org/drawingml/2006/main" noGrp="1"/>
          </p:cNvSpPr>
          <p:nvPr/>
        </p:nvSpPr>
        <p:spPr>
          <a:xfrm xmlns:a="http://schemas.openxmlformats.org/drawingml/2006/main">
            <a:off x="609600" y="3233928"/>
            <a:ext cx="1097280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開篇即點出人物悲劇結局與作者喜愛之情之間的張力，為全文奠定了辯證思考的基調，引發</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讀者對「才」與「命」的關注。</a:t>
            </a:r>
          </a:p>
        </p:txBody>
      </p:sp>
      <p:sp>
        <p:nvSpPr>
          <p:cNvPr id="7" name="">
            <a:extLst xmlns:a="http://schemas.openxmlformats.org/drawingml/2006/main">
              <a:ext uri="{FF2B5EF4-FFF2-40B4-BE49-F238E27FC236}">
                <a16:creationId xmlns:a16="http://schemas.microsoft.com/office/drawing/2014/main" id="{48BB7E4C-CA17-44D8-8625-8ED98345B23C}"/>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8" name="">
            <a:extLst xmlns:a="http://schemas.openxmlformats.org/drawingml/2006/main">
              <a:ext uri="{FF2B5EF4-FFF2-40B4-BE49-F238E27FC236}">
                <a16:creationId xmlns:a16="http://schemas.microsoft.com/office/drawing/2014/main" id="{4D6FF6C8-3E8C-4F77-B09C-2A4057EE6E89}"/>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14／19</a:t>
            </a:r>
          </a:p>
        </p:txBody>
      </p:sp>
    </p:spTree>
    <p:extLst>
      <p:ext uri="{BB962C8B-B14F-4D97-AF65-F5344CB8AC3E}">
        <p14:creationId xmlns:p14="http://schemas.microsoft.com/office/powerpoint/2010/main" val="834938048"/>
      </p:ext>
    </p:extLst>
  </p:cSld>
</p:sld>
</file>

<file path=ppt/slides/slide1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67068A-1E7A-4FD9-ADF2-802206141DF1}"/>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05　結構</a:t>
            </a:r>
          </a:p>
        </p:txBody>
      </p:sp>
      <p:sp>
        <p:nvSpPr>
          <p:cNvPr id="2" name="">
            <a:extLst xmlns:a="http://schemas.openxmlformats.org/drawingml/2006/main">
              <a:ext uri="{FF2B5EF4-FFF2-40B4-BE49-F238E27FC236}">
                <a16:creationId xmlns:a16="http://schemas.microsoft.com/office/drawing/2014/main" id="{D69D15C0-1869-46FF-99D8-69FDBCAE3ABE}"/>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開頭與結尾對照</a:t>
            </a:r>
          </a:p>
        </p:txBody>
      </p:sp>
      <p:sp>
        <p:nvSpPr>
          <p:cNvPr id="3" name="">
            <a:extLst xmlns:a="http://schemas.openxmlformats.org/drawingml/2006/main">
              <a:ext uri="{FF2B5EF4-FFF2-40B4-BE49-F238E27FC236}">
                <a16:creationId xmlns:a16="http://schemas.microsoft.com/office/drawing/2014/main" id="{82843B30-641E-4AFB-9279-3F1C2DD1FFC4}"/>
              </a:ext>
            </a:extLst>
          </p:cNvPr>
          <p:cNvSpPr>
            <a:spLocks xmlns:a="http://schemas.openxmlformats.org/drawingml/2006/main" noGrp="1"/>
          </p:cNvSpPr>
          <p:nvPr/>
        </p:nvSpPr>
        <p:spPr>
          <a:xfrm xmlns:a="http://schemas.openxmlformats.org/drawingml/2006/main">
            <a:off x="609600" y="182880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開頭原文</a:t>
            </a:r>
          </a:p>
        </p:txBody>
      </p:sp>
      <p:sp>
        <p:nvSpPr>
          <p:cNvPr id="4" name="">
            <a:extLst xmlns:a="http://schemas.openxmlformats.org/drawingml/2006/main">
              <a:ext uri="{FF2B5EF4-FFF2-40B4-BE49-F238E27FC236}">
                <a16:creationId xmlns:a16="http://schemas.microsoft.com/office/drawing/2014/main" id="{25C1969B-EB7B-42BC-8A50-730AAB657687}"/>
              </a:ext>
            </a:extLst>
          </p:cNvPr>
          <p:cNvSpPr>
            <a:spLocks xmlns:a="http://schemas.openxmlformats.org/drawingml/2006/main" noGrp="1"/>
          </p:cNvSpPr>
          <p:nvPr/>
        </p:nvSpPr>
        <p:spPr>
          <a:xfrm xmlns:a="http://schemas.openxmlformats.org/drawingml/2006/main">
            <a:off x="609600" y="2305050"/>
            <a:ext cx="5238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在歷史故事中，我最喜歡魏國才——楊</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修。原因是他聰明過人，他的悲劇故事帶</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給我極大的啟發。</a:t>
            </a:r>
          </a:p>
        </p:txBody>
      </p:sp>
      <p:sp>
        <p:nvSpPr>
          <p:cNvPr id="5" name="">
            <a:extLst xmlns:a="http://schemas.openxmlformats.org/drawingml/2006/main">
              <a:ext uri="{FF2B5EF4-FFF2-40B4-BE49-F238E27FC236}">
                <a16:creationId xmlns:a16="http://schemas.microsoft.com/office/drawing/2014/main" id="{3D380214-4C21-43C2-8B14-5E96766F72BA}"/>
              </a:ext>
            </a:extLst>
          </p:cNvPr>
          <p:cNvSpPr>
            <a:spLocks xmlns:a="http://schemas.openxmlformats.org/drawingml/2006/main" noGrp="1"/>
          </p:cNvSpPr>
          <p:nvPr/>
        </p:nvSpPr>
        <p:spPr>
          <a:xfrm xmlns:a="http://schemas.openxmlformats.org/drawingml/2006/main">
            <a:off x="6343650" y="182880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結尾原文</a:t>
            </a:r>
          </a:p>
        </p:txBody>
      </p:sp>
      <p:sp>
        <p:nvSpPr>
          <p:cNvPr id="6" name="">
            <a:extLst xmlns:a="http://schemas.openxmlformats.org/drawingml/2006/main">
              <a:ext uri="{FF2B5EF4-FFF2-40B4-BE49-F238E27FC236}">
                <a16:creationId xmlns:a16="http://schemas.microsoft.com/office/drawing/2014/main" id="{ED92B97F-5CE1-4223-A52D-92CE8D23B73B}"/>
              </a:ext>
            </a:extLst>
          </p:cNvPr>
          <p:cNvSpPr>
            <a:spLocks xmlns:a="http://schemas.openxmlformats.org/drawingml/2006/main" noGrp="1"/>
          </p:cNvSpPr>
          <p:nvPr/>
        </p:nvSpPr>
        <p:spPr>
          <a:xfrm xmlns:a="http://schemas.openxmlformats.org/drawingml/2006/main">
            <a:off x="6343650" y="2305050"/>
            <a:ext cx="5238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總結全文，楊修是一面歷史的鏡子，提醒</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我們在生活中既要努力累積智慧，也要保</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持低調與謙遜。</a:t>
            </a:r>
          </a:p>
        </p:txBody>
      </p:sp>
      <p:sp>
        <p:nvSpPr>
          <p:cNvPr id="7" name="">
            <a:extLst xmlns:a="http://schemas.openxmlformats.org/drawingml/2006/main">
              <a:ext uri="{FF2B5EF4-FFF2-40B4-BE49-F238E27FC236}">
                <a16:creationId xmlns:a16="http://schemas.microsoft.com/office/drawing/2014/main" id="{B703DAD9-32EC-4601-80B6-C3DBFD1DBD2D}"/>
              </a:ext>
            </a:extLst>
          </p:cNvPr>
          <p:cNvSpPr>
            <a:spLocks xmlns:a="http://schemas.openxmlformats.org/drawingml/2006/main" noGrp="1"/>
          </p:cNvSpPr>
          <p:nvPr/>
        </p:nvSpPr>
        <p:spPr>
          <a:xfrm xmlns:a="http://schemas.openxmlformats.org/drawingml/2006/main">
            <a:off x="609600" y="45148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已有賞析</a:t>
            </a:r>
          </a:p>
        </p:txBody>
      </p:sp>
      <p:sp>
        <p:nvSpPr>
          <p:cNvPr id="8" name="">
            <a:extLst xmlns:a="http://schemas.openxmlformats.org/drawingml/2006/main">
              <a:ext uri="{FF2B5EF4-FFF2-40B4-BE49-F238E27FC236}">
                <a16:creationId xmlns:a16="http://schemas.microsoft.com/office/drawing/2014/main" id="{A54634AF-0874-4FCE-B211-7CE77602A583}"/>
              </a:ext>
            </a:extLst>
          </p:cNvPr>
          <p:cNvSpPr>
            <a:spLocks xmlns:a="http://schemas.openxmlformats.org/drawingml/2006/main" noGrp="1"/>
          </p:cNvSpPr>
          <p:nvPr/>
        </p:nvSpPr>
        <p:spPr>
          <a:xfrm xmlns:a="http://schemas.openxmlformats.org/drawingml/2006/main">
            <a:off x="609600" y="49530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運用比喻手法，將人物命運昇華為人生哲理，總結精煉且具啟發性，呼應開篇提到的「啟</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發」。</a:t>
            </a:r>
          </a:p>
        </p:txBody>
      </p:sp>
      <p:sp>
        <p:nvSpPr>
          <p:cNvPr id="9" name="">
            <a:extLst xmlns:a="http://schemas.openxmlformats.org/drawingml/2006/main">
              <a:ext uri="{FF2B5EF4-FFF2-40B4-BE49-F238E27FC236}">
                <a16:creationId xmlns:a16="http://schemas.microsoft.com/office/drawing/2014/main" id="{8BF3FAC4-3FED-4297-A478-4851AA2A5059}"/>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10" name="">
            <a:extLst xmlns:a="http://schemas.openxmlformats.org/drawingml/2006/main">
              <a:ext uri="{FF2B5EF4-FFF2-40B4-BE49-F238E27FC236}">
                <a16:creationId xmlns:a16="http://schemas.microsoft.com/office/drawing/2014/main" id="{261F1AD6-400A-4A07-A64B-B2F1AEF729EF}"/>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15／19</a:t>
            </a:r>
          </a:p>
        </p:txBody>
      </p:sp>
    </p:spTree>
    <p:extLst>
      <p:ext uri="{BB962C8B-B14F-4D97-AF65-F5344CB8AC3E}">
        <p14:creationId xmlns:p14="http://schemas.microsoft.com/office/powerpoint/2010/main" val="89891720"/>
      </p:ext>
    </p:extLst>
  </p:cSld>
</p:sld>
</file>

<file path=ppt/slides/slide1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EC8F13-243A-42BE-9172-256A7FC74DDC}"/>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06　標點字體</a:t>
            </a:r>
          </a:p>
        </p:txBody>
      </p:sp>
      <p:sp>
        <p:nvSpPr>
          <p:cNvPr id="2" name="">
            <a:extLst xmlns:a="http://schemas.openxmlformats.org/drawingml/2006/main">
              <a:ext uri="{FF2B5EF4-FFF2-40B4-BE49-F238E27FC236}">
                <a16:creationId xmlns:a16="http://schemas.microsoft.com/office/drawing/2014/main" id="{2AA4D112-77B0-4BB0-923F-765DFA69A4DD}"/>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字詞建議訂正</a:t>
            </a:r>
          </a:p>
        </p:txBody>
      </p:sp>
      <p:graphicFrame>
        <p:nvGraphicFramePr>
          <p:cNvPr id="3" name="">
            <a:extLst xmlns:a="http://schemas.openxmlformats.org/drawingml/2006/main">
              <a:ext uri="{FF2B5EF4-FFF2-40B4-BE49-F238E27FC236}">
                <a16:creationId xmlns:a16="http://schemas.microsoft.com/office/drawing/2014/main" id="{3147D5F1-5A8F-4F76-B921-289DB09D674A}"/>
              </a:ext>
            </a:extLst>
          </p:cNvPr>
          <p:cNvGraphicFramePr/>
          <p:nvPr/>
        </p:nvGraphicFramePr>
        <p:xfrm>
          <a:off xmlns:a="http://schemas.openxmlformats.org/drawingml/2006/main" x="609600" y="1847850"/>
          <a:ext xmlns:a="http://schemas.openxmlformats.org/drawingml/2006/main" cx="10972800" cy="3905250"/>
        </p:xfrm>
        <a:graphic xmlns:a="http://schemas.openxmlformats.org/drawingml/2006/main">
          <a:graphicData uri="http://schemas.openxmlformats.org/drawingml/2006/table">
            <a:tbl>
              <a:tblPr/>
              <a:tblGrid>
                <a:gridCol w="6858000"/>
                <a:gridCol w="2000250"/>
                <a:gridCol w="2114550"/>
              </a:tblGrid>
              <a:tr h="571500">
                <a:tc>
                  <a:txBody>
                    <a:bodyPr lIns="133350" tIns="133350" rIns="133350" bIns="133350">
                      <a:noAutofit/>
                    </a:bodyPr>
                    <a:lstStyle/>
                    <a:p>
                      <a:r>
                        <a:rPr sz="1875" b="1">
                          <a:solidFill>
                            <a:srgbClr val="126D73"/>
                          </a:solidFill>
                          <a:latin typeface="Arial Unicode MS"/>
                          <a:ea typeface="Arial Unicode MS"/>
                          <a:cs typeface="Arial Unicode MS"/>
                        </a:rPr>
                        <a:t>原文上下文</a:t>
                      </a:r>
                    </a:p>
                  </a:txBody>
                  <a:tcPr marL="91440" marR="91440" marT="45720" marB="45720" anchor="ctr">
                    <a:lnL w="9525">
                      <a:solidFill>
                        <a:srgbClr val="D5E0E3"/>
                      </a:solidFill>
                    </a:lnL>
                    <a:lnR w="9525">
                      <a:solidFill>
                        <a:srgbClr val="D5E0E3"/>
                      </a:solidFill>
                    </a:lnR>
                    <a:lnT w="9525">
                      <a:solidFill>
                        <a:srgbClr val="D5E0E3"/>
                      </a:solidFill>
                    </a:lnT>
                    <a:lnB w="9525">
                      <a:solidFill>
                        <a:srgbClr val="D5E0E3"/>
                      </a:solidFill>
                    </a:lnB>
                    <a:solidFill>
                      <a:srgbClr val="E8F0F1"/>
                    </a:solidFill>
                  </a:tcPr>
                </a:tc>
                <a:tc>
                  <a:txBody>
                    <a:bodyPr lIns="133350" tIns="133350" rIns="133350" bIns="133350">
                      <a:noAutofit/>
                    </a:bodyPr>
                    <a:lstStyle/>
                    <a:p>
                      <a:r>
                        <a:rPr sz="1875" b="1">
                          <a:solidFill>
                            <a:srgbClr val="126D73"/>
                          </a:solidFill>
                          <a:latin typeface="Arial Unicode MS"/>
                          <a:ea typeface="Arial Unicode MS"/>
                          <a:cs typeface="Arial Unicode MS"/>
                        </a:rPr>
                        <a:t>原字詞</a:t>
                      </a:r>
                    </a:p>
                  </a:txBody>
                  <a:tcPr marL="91440" marR="91440" marT="45720" marB="45720" anchor="ctr">
                    <a:lnR w="9525">
                      <a:solidFill>
                        <a:srgbClr val="D5E0E3"/>
                      </a:solidFill>
                    </a:lnR>
                    <a:lnT w="9525">
                      <a:solidFill>
                        <a:srgbClr val="D5E0E3"/>
                      </a:solidFill>
                    </a:lnT>
                    <a:lnB w="9525">
                      <a:solidFill>
                        <a:srgbClr val="D5E0E3"/>
                      </a:solidFill>
                    </a:lnB>
                    <a:solidFill>
                      <a:srgbClr val="E8F0F1"/>
                    </a:solidFill>
                  </a:tcPr>
                </a:tc>
                <a:tc>
                  <a:txBody>
                    <a:bodyPr lIns="133350" tIns="133350" rIns="133350" bIns="133350">
                      <a:noAutofit/>
                    </a:bodyPr>
                    <a:lstStyle/>
                    <a:p>
                      <a:r>
                        <a:rPr sz="1875" b="1">
                          <a:solidFill>
                            <a:srgbClr val="126D73"/>
                          </a:solidFill>
                          <a:latin typeface="Arial Unicode MS"/>
                          <a:ea typeface="Arial Unicode MS"/>
                          <a:cs typeface="Arial Unicode MS"/>
                        </a:rPr>
                        <a:t>建議字詞</a:t>
                      </a:r>
                    </a:p>
                  </a:txBody>
                  <a:tcPr marL="91440" marR="91440" marT="45720" marB="45720" anchor="ctr">
                    <a:lnR w="9525">
                      <a:solidFill>
                        <a:srgbClr val="D5E0E3"/>
                      </a:solidFill>
                    </a:lnR>
                    <a:lnT w="9525">
                      <a:solidFill>
                        <a:srgbClr val="D5E0E3"/>
                      </a:solidFill>
                    </a:lnT>
                    <a:lnB w="9525">
                      <a:solidFill>
                        <a:srgbClr val="D5E0E3"/>
                      </a:solidFill>
                    </a:lnB>
                    <a:solidFill>
                      <a:srgbClr val="E8F0F1"/>
                    </a:solidFill>
                  </a:tcPr>
                </a:tc>
              </a:tr>
              <a:tr h="666750">
                <a:tc>
                  <a:txBody>
                    <a:bodyPr lIns="133350" tIns="133350" rIns="133350" bIns="133350">
                      <a:noAutofit/>
                    </a:bodyPr>
                    <a:lstStyle/>
                    <a:p>
                      <a:r>
                        <a:rPr sz="1875" b="0">
                          <a:solidFill>
                            <a:srgbClr val="233441"/>
                          </a:solidFill>
                          <a:latin typeface="Arial Unicode MS"/>
                          <a:ea typeface="Arial Unicode MS"/>
                          <a:cs typeface="Arial Unicode MS"/>
                        </a:rPr>
                        <a:t>而歪兒只能莫莫地去撿罐兒。</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1875" b="0">
                          <a:solidFill>
                            <a:srgbClr val="233441"/>
                          </a:solidFill>
                          <a:latin typeface="Arial Unicode MS"/>
                          <a:ea typeface="Arial Unicode MS"/>
                          <a:cs typeface="Arial Unicode MS"/>
                        </a:rPr>
                        <a:t>莫莫地</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1875" b="0">
                          <a:solidFill>
                            <a:srgbClr val="233441"/>
                          </a:solidFill>
                          <a:latin typeface="Arial Unicode MS"/>
                          <a:ea typeface="Arial Unicode MS"/>
                          <a:cs typeface="Arial Unicode MS"/>
                        </a:rPr>
                        <a:t>默默地</a:t>
                      </a:r>
                    </a:p>
                  </a:txBody>
                  <a:tcPr marL="91440" marR="91440" marT="45720" marB="45720" anchor="ctr">
                    <a:lnR w="9525">
                      <a:solidFill>
                        <a:srgbClr val="D5E0E3"/>
                      </a:solidFill>
                    </a:lnR>
                    <a:lnB w="9525">
                      <a:solidFill>
                        <a:srgbClr val="D5E0E3"/>
                      </a:solidFill>
                    </a:lnB>
                    <a:solidFill>
                      <a:srgbClr val="F7F9FA"/>
                    </a:solidFill>
                  </a:tcPr>
                </a:tc>
              </a:tr>
              <a:tr h="666750">
                <a:tc>
                  <a:txBody>
                    <a:bodyPr lIns="133350" tIns="133350" rIns="133350" bIns="133350">
                      <a:noAutofit/>
                    </a:bodyPr>
                    <a:lstStyle/>
                    <a:p>
                      <a:r>
                        <a:rPr sz="1875" b="0">
                          <a:solidFill>
                            <a:srgbClr val="233441"/>
                          </a:solidFill>
                          <a:latin typeface="Arial Unicode MS"/>
                          <a:ea typeface="Arial Unicode MS"/>
                          <a:cs typeface="Arial Unicode MS"/>
                        </a:rPr>
                        <a:t>正相嫌花園的門太闊了。</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1875" b="0">
                          <a:solidFill>
                            <a:srgbClr val="233441"/>
                          </a:solidFill>
                          <a:latin typeface="Arial Unicode MS"/>
                          <a:ea typeface="Arial Unicode MS"/>
                          <a:cs typeface="Arial Unicode MS"/>
                        </a:rPr>
                        <a:t>正相</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1875" b="0">
                          <a:solidFill>
                            <a:srgbClr val="233441"/>
                          </a:solidFill>
                          <a:latin typeface="Arial Unicode MS"/>
                          <a:ea typeface="Arial Unicode MS"/>
                          <a:cs typeface="Arial Unicode MS"/>
                        </a:rPr>
                        <a:t>丞相</a:t>
                      </a:r>
                    </a:p>
                  </a:txBody>
                  <a:tcPr marL="91440" marR="91440" marT="45720" marB="45720" anchor="ctr">
                    <a:lnR w="9525">
                      <a:solidFill>
                        <a:srgbClr val="D5E0E3"/>
                      </a:solidFill>
                    </a:lnR>
                    <a:lnB w="9525">
                      <a:solidFill>
                        <a:srgbClr val="D5E0E3"/>
                      </a:solidFill>
                    </a:lnB>
                    <a:solidFill>
                      <a:srgbClr val="F7F9FA"/>
                    </a:solidFill>
                  </a:tcPr>
                </a:tc>
              </a:tr>
              <a:tr h="666750">
                <a:tc>
                  <a:txBody>
                    <a:bodyPr lIns="133350" tIns="133350" rIns="133350" bIns="133350">
                      <a:noAutofit/>
                    </a:bodyPr>
                    <a:lstStyle/>
                    <a:p>
                      <a:r>
                        <a:rPr sz="1875" b="0">
                          <a:solidFill>
                            <a:srgbClr val="233441"/>
                          </a:solidFill>
                          <a:latin typeface="Arial Unicode MS"/>
                          <a:ea typeface="Arial Unicode MS"/>
                          <a:cs typeface="Arial Unicode MS"/>
                        </a:rPr>
                        <a:t>豬望我將來若遇相似的情景</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1875" b="0">
                          <a:solidFill>
                            <a:srgbClr val="233441"/>
                          </a:solidFill>
                          <a:latin typeface="Arial Unicode MS"/>
                          <a:ea typeface="Arial Unicode MS"/>
                          <a:cs typeface="Arial Unicode MS"/>
                        </a:rPr>
                        <a:t>豬望</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1875" b="0">
                          <a:solidFill>
                            <a:srgbClr val="233441"/>
                          </a:solidFill>
                          <a:latin typeface="Arial Unicode MS"/>
                          <a:ea typeface="Arial Unicode MS"/>
                          <a:cs typeface="Arial Unicode MS"/>
                        </a:rPr>
                        <a:t>希望</a:t>
                      </a:r>
                    </a:p>
                  </a:txBody>
                  <a:tcPr marL="91440" marR="91440" marT="45720" marB="45720" anchor="ctr">
                    <a:lnR w="9525">
                      <a:solidFill>
                        <a:srgbClr val="D5E0E3"/>
                      </a:solidFill>
                    </a:lnR>
                    <a:lnB w="9525">
                      <a:solidFill>
                        <a:srgbClr val="D5E0E3"/>
                      </a:solidFill>
                    </a:lnB>
                    <a:solidFill>
                      <a:srgbClr val="F7F9FA"/>
                    </a:solidFill>
                  </a:tcPr>
                </a:tc>
              </a:tr>
              <a:tr h="666750">
                <a:tc>
                  <a:txBody>
                    <a:bodyPr lIns="133350" tIns="133350" rIns="133350" bIns="133350">
                      <a:noAutofit/>
                    </a:bodyPr>
                    <a:lstStyle/>
                    <a:p>
                      <a:r>
                        <a:rPr sz="1875" b="0">
                          <a:solidFill>
                            <a:srgbClr val="233441"/>
                          </a:solidFill>
                          <a:latin typeface="Arial Unicode MS"/>
                          <a:ea typeface="Arial Unicode MS"/>
                          <a:cs typeface="Arial Unicode MS"/>
                        </a:rPr>
                        <a:t>善良又大公的性格</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1875" b="0">
                          <a:solidFill>
                            <a:srgbClr val="233441"/>
                          </a:solidFill>
                          <a:latin typeface="Arial Unicode MS"/>
                          <a:ea typeface="Arial Unicode MS"/>
                          <a:cs typeface="Arial Unicode MS"/>
                        </a:rPr>
                        <a:t>大公</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1875" b="0">
                          <a:solidFill>
                            <a:srgbClr val="233441"/>
                          </a:solidFill>
                          <a:latin typeface="Arial Unicode MS"/>
                          <a:ea typeface="Arial Unicode MS"/>
                          <a:cs typeface="Arial Unicode MS"/>
                        </a:rPr>
                        <a:t>大方</a:t>
                      </a:r>
                    </a:p>
                  </a:txBody>
                  <a:tcPr marL="91440" marR="91440" marT="45720" marB="45720" anchor="ctr">
                    <a:lnR w="9525">
                      <a:solidFill>
                        <a:srgbClr val="D5E0E3"/>
                      </a:solidFill>
                    </a:lnR>
                    <a:lnB w="9525">
                      <a:solidFill>
                        <a:srgbClr val="D5E0E3"/>
                      </a:solidFill>
                    </a:lnB>
                    <a:solidFill>
                      <a:srgbClr val="F7F9FA"/>
                    </a:solidFill>
                  </a:tcPr>
                </a:tc>
              </a:tr>
              <a:tr h="666750">
                <a:tc>
                  <a:txBody>
                    <a:bodyPr lIns="133350" tIns="133350" rIns="133350" bIns="133350">
                      <a:noAutofit/>
                    </a:bodyPr>
                    <a:lstStyle/>
                    <a:p>
                      <a:r>
                        <a:rPr sz="1875" b="0">
                          <a:solidFill>
                            <a:srgbClr val="233441"/>
                          </a:solidFill>
                          <a:latin typeface="Arial Unicode MS"/>
                          <a:ea typeface="Arial Unicode MS"/>
                          <a:cs typeface="Arial Unicode MS"/>
                        </a:rPr>
                        <a:t>眼是小病，很快就在癒了。</a:t>
                      </a:r>
                    </a:p>
                  </a:txBody>
                  <a:tcPr marL="91440" marR="91440" marT="45720" marB="45720" anchor="ctr">
                    <a:lnL w="9525">
                      <a:solidFill>
                        <a:srgbClr val="D5E0E3"/>
                      </a:solidFill>
                    </a:lnL>
                    <a:lnR w="9525">
                      <a:solidFill>
                        <a:srgbClr val="D5E0E3"/>
                      </a:solidFill>
                    </a:lnR>
                    <a:lnB w="9525">
                      <a:solidFill>
                        <a:srgbClr val="D5E0E3"/>
                      </a:solidFill>
                    </a:lnB>
                    <a:solidFill>
                      <a:srgbClr val="F7F9FA"/>
                    </a:solidFill>
                  </a:tcPr>
                </a:tc>
                <a:tc>
                  <a:txBody>
                    <a:bodyPr lIns="133350" tIns="133350" rIns="133350" bIns="133350">
                      <a:noAutofit/>
                    </a:bodyPr>
                    <a:lstStyle/>
                    <a:p>
                      <a:r>
                        <a:rPr sz="1875" b="0">
                          <a:solidFill>
                            <a:srgbClr val="233441"/>
                          </a:solidFill>
                          <a:latin typeface="Arial Unicode MS"/>
                          <a:ea typeface="Arial Unicode MS"/>
                          <a:cs typeface="Arial Unicode MS"/>
                        </a:rPr>
                        <a:t>在癒</a:t>
                      </a:r>
                    </a:p>
                  </a:txBody>
                  <a:tcPr marL="91440" marR="91440" marT="45720" marB="45720" anchor="ctr">
                    <a:lnR w="9525">
                      <a:solidFill>
                        <a:srgbClr val="D5E0E3"/>
                      </a:solidFill>
                    </a:lnR>
                    <a:lnB w="9525">
                      <a:solidFill>
                        <a:srgbClr val="D5E0E3"/>
                      </a:solidFill>
                    </a:lnB>
                    <a:solidFill>
                      <a:srgbClr val="F7F9FA"/>
                    </a:solidFill>
                  </a:tcPr>
                </a:tc>
                <a:tc>
                  <a:txBody>
                    <a:bodyPr lIns="133350" tIns="133350" rIns="133350" bIns="133350">
                      <a:noAutofit/>
                    </a:bodyPr>
                    <a:lstStyle/>
                    <a:p>
                      <a:r>
                        <a:rPr sz="1875" b="0">
                          <a:solidFill>
                            <a:srgbClr val="233441"/>
                          </a:solidFill>
                          <a:latin typeface="Arial Unicode MS"/>
                          <a:ea typeface="Arial Unicode MS"/>
                          <a:cs typeface="Arial Unicode MS"/>
                        </a:rPr>
                        <a:t>痊癒</a:t>
                      </a:r>
                    </a:p>
                  </a:txBody>
                  <a:tcPr marL="91440" marR="91440" marT="45720" marB="45720" anchor="ctr">
                    <a:lnR w="9525">
                      <a:solidFill>
                        <a:srgbClr val="D5E0E3"/>
                      </a:solidFill>
                    </a:lnR>
                    <a:lnB w="9525">
                      <a:solidFill>
                        <a:srgbClr val="D5E0E3"/>
                      </a:solidFill>
                    </a:lnB>
                    <a:solidFill>
                      <a:srgbClr val="F7F9FA"/>
                    </a:solidFill>
                  </a:tcPr>
                </a:tc>
              </a:tr>
            </a:tbl>
          </a:graphicData>
        </a:graphic>
      </p:graphicFrame>
      <p:sp>
        <p:nvSpPr>
          <p:cNvPr id="4" name="">
            <a:extLst xmlns:a="http://schemas.openxmlformats.org/drawingml/2006/main">
              <a:ext uri="{FF2B5EF4-FFF2-40B4-BE49-F238E27FC236}">
                <a16:creationId xmlns:a16="http://schemas.microsoft.com/office/drawing/2014/main" id="{CB93E57C-361B-4094-9F46-A50BA0686552}"/>
              </a:ext>
            </a:extLst>
          </p:cNvPr>
          <p:cNvSpPr>
            <a:spLocks xmlns:a="http://schemas.openxmlformats.org/drawingml/2006/main" noGrp="1"/>
          </p:cNvSpPr>
          <p:nvPr/>
        </p:nvSpPr>
        <p:spPr>
          <a:xfrm xmlns:a="http://schemas.openxmlformats.org/drawingml/2006/main">
            <a:off x="609600" y="58959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680"/>
                </a:solidFill>
                <a:latin typeface="Arial Unicode MS"/>
                <a:ea typeface="Arial Unicode MS"/>
                <a:cs typeface="Arial Unicode MS"/>
              </a:defRPr>
            </a:defPPr>
          </a:lstStyle>
          <a:p xmlns:a="http://schemas.openxmlformats.org/drawingml/2006/main">
            <a:pPr>
              <a:defRPr sz="1575" b="0">
                <a:solidFill>
                  <a:srgbClr val="667680"/>
                </a:solidFill>
                <a:latin typeface="Arial Unicode MS"/>
                <a:ea typeface="Arial Unicode MS"/>
                <a:cs typeface="Arial Unicode MS"/>
              </a:defRPr>
            </a:pPr>
            <a:r>
              <a:rPr sz="1575" b="0">
                <a:solidFill>
                  <a:srgbClr val="667680"/>
                </a:solidFill>
                <a:latin typeface="Arial Unicode MS"/>
                <a:ea typeface="Arial Unicode MS"/>
                <a:cs typeface="Arial Unicode MS"/>
              </a:rPr>
              <a:t>第1項為已有批注建議；第2—5項為語義推算示例，待教師確認。</a:t>
            </a:r>
          </a:p>
        </p:txBody>
      </p:sp>
      <p:sp>
        <p:nvSpPr>
          <p:cNvPr id="5" name="">
            <a:extLst xmlns:a="http://schemas.openxmlformats.org/drawingml/2006/main">
              <a:ext uri="{FF2B5EF4-FFF2-40B4-BE49-F238E27FC236}">
                <a16:creationId xmlns:a16="http://schemas.microsoft.com/office/drawing/2014/main" id="{13EBB8CC-4809-4C68-AA82-6FA1E5D15852}"/>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6" name="">
            <a:extLst xmlns:a="http://schemas.openxmlformats.org/drawingml/2006/main">
              <a:ext uri="{FF2B5EF4-FFF2-40B4-BE49-F238E27FC236}">
                <a16:creationId xmlns:a16="http://schemas.microsoft.com/office/drawing/2014/main" id="{5DF51670-5EE5-4234-9B06-B529BA76724A}"/>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16／19</a:t>
            </a:r>
          </a:p>
        </p:txBody>
      </p:sp>
    </p:spTree>
    <p:extLst>
      <p:ext uri="{BB962C8B-B14F-4D97-AF65-F5344CB8AC3E}">
        <p14:creationId xmlns:p14="http://schemas.microsoft.com/office/powerpoint/2010/main" val="388781830"/>
      </p:ext>
    </p:extLst>
  </p:cSld>
</p:sld>
</file>

<file path=ppt/slides/slide1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098D61-6846-455C-ABC7-7E9260BD5CE0}"/>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07　作文選讀</a:t>
            </a:r>
          </a:p>
        </p:txBody>
      </p:sp>
      <p:sp>
        <p:nvSpPr>
          <p:cNvPr id="2" name="">
            <a:extLst xmlns:a="http://schemas.openxmlformats.org/drawingml/2006/main">
              <a:ext uri="{FF2B5EF4-FFF2-40B4-BE49-F238E27FC236}">
                <a16:creationId xmlns:a16="http://schemas.microsoft.com/office/drawing/2014/main" id="{F5C7102B-D6DE-4B55-831E-60822154E7F9}"/>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作文原文（1／2）</a:t>
            </a:r>
          </a:p>
        </p:txBody>
      </p:sp>
      <p:sp>
        <p:nvSpPr>
          <p:cNvPr id="3" name="">
            <a:extLst xmlns:a="http://schemas.openxmlformats.org/drawingml/2006/main">
              <a:ext uri="{FF2B5EF4-FFF2-40B4-BE49-F238E27FC236}">
                <a16:creationId xmlns:a16="http://schemas.microsoft.com/office/drawing/2014/main" id="{4A03BE30-1463-41E7-804A-7DAD8AB61345}"/>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原稿題目</a:t>
            </a:r>
          </a:p>
        </p:txBody>
      </p:sp>
      <p:sp>
        <p:nvSpPr>
          <p:cNvPr id="4" name="">
            <a:extLst xmlns:a="http://schemas.openxmlformats.org/drawingml/2006/main">
              <a:ext uri="{FF2B5EF4-FFF2-40B4-BE49-F238E27FC236}">
                <a16:creationId xmlns:a16="http://schemas.microsoft.com/office/drawing/2014/main" id="{C87A9938-CE24-43CF-BAFD-FB5C957C6F21}"/>
              </a:ext>
            </a:extLst>
          </p:cNvPr>
          <p:cNvSpPr>
            <a:spLocks xmlns:a="http://schemas.openxmlformats.org/drawingml/2006/main" noGrp="1"/>
          </p:cNvSpPr>
          <p:nvPr/>
        </p:nvSpPr>
        <p:spPr>
          <a:xfrm xmlns:a="http://schemas.openxmlformats.org/drawingml/2006/main">
            <a:off x="609600" y="2162175"/>
            <a:ext cx="10972800" cy="433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33441"/>
                </a:solidFill>
                <a:latin typeface="Arial Unicode MS"/>
                <a:ea typeface="Arial Unicode MS"/>
                <a:cs typeface="Arial Unicode MS"/>
              </a:defRPr>
            </a:defPPr>
          </a:lstStyle>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我最喜歡的故人物：楊修</a:t>
            </a:r>
          </a:p>
        </p:txBody>
      </p:sp>
      <p:sp>
        <p:nvSpPr>
          <p:cNvPr id="5" name="">
            <a:extLst xmlns:a="http://schemas.openxmlformats.org/drawingml/2006/main">
              <a:ext uri="{FF2B5EF4-FFF2-40B4-BE49-F238E27FC236}">
                <a16:creationId xmlns:a16="http://schemas.microsoft.com/office/drawing/2014/main" id="{902401CE-747F-4E0D-8E45-93F567FE1B3C}"/>
              </a:ext>
            </a:extLst>
          </p:cNvPr>
          <p:cNvSpPr>
            <a:spLocks xmlns:a="http://schemas.openxmlformats.org/drawingml/2006/main" noGrp="1"/>
          </p:cNvSpPr>
          <p:nvPr/>
        </p:nvSpPr>
        <p:spPr>
          <a:xfrm xmlns:a="http://schemas.openxmlformats.org/drawingml/2006/main">
            <a:off x="609600" y="2786063"/>
            <a:ext cx="10972800" cy="3305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33441"/>
                </a:solidFill>
                <a:latin typeface="Arial Unicode MS"/>
                <a:ea typeface="Arial Unicode MS"/>
                <a:cs typeface="Arial Unicode MS"/>
              </a:defRPr>
            </a:defPPr>
          </a:lstStyle>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在中國眾多的歷史故事人物中，我最喜歡的是楊修。他出自《楊修之死》，雖然他最後因為恃才放曠被</a:t>
            </a:r>
          </a:p>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曹操斬殺了，但我喜歡是他的才智。</a:t>
            </a:r>
          </a:p>
          <a:p xmlns:a="http://schemas.openxmlformats.org/drawingml/2006/main">
            <a:r>
              <a:t/>
            </a:r>
          </a:p>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故事中，楊修是曹操身邊的行軍主簿，有一次曹操正在想口號的時候剛好有人拿了一碗雞湯給曹操，曹</a:t>
            </a:r>
          </a:p>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操看見雞湯裏有雞肋，便拿雞肋當做口號；楊修聽到曹操改的口號後便叫隨行軍士可以去收拾行裝，準</a:t>
            </a:r>
          </a:p>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備回程。</a:t>
            </a:r>
          </a:p>
          <a:p xmlns:a="http://schemas.openxmlformats.org/drawingml/2006/main">
            <a:r>
              <a:t/>
            </a:r>
          </a:p>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還有一件事件，就是塞北送來了一盒酥，曹操便在盒上親手寫了一盒酥這三個字，並放在書桌上。楊修</a:t>
            </a:r>
          </a:p>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進去後看見了這個盒子，竟然拿匙子來與眾人分吃光。曹操問楊修為甚麼要這樣做，楊修答道：「盒上</a:t>
            </a:r>
          </a:p>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清楚寫明『一人一口酥』，我怎麼敢違抗丞相的命令呢？」楊修這個事件真展現了他的才智。</a:t>
            </a:r>
          </a:p>
        </p:txBody>
      </p:sp>
      <p:sp>
        <p:nvSpPr>
          <p:cNvPr id="6" name="">
            <a:extLst xmlns:a="http://schemas.openxmlformats.org/drawingml/2006/main">
              <a:ext uri="{FF2B5EF4-FFF2-40B4-BE49-F238E27FC236}">
                <a16:creationId xmlns:a16="http://schemas.microsoft.com/office/drawing/2014/main" id="{FDF0CD4D-4062-41C0-85D9-D990566B9380}"/>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7" name="">
            <a:extLst xmlns:a="http://schemas.openxmlformats.org/drawingml/2006/main">
              <a:ext uri="{FF2B5EF4-FFF2-40B4-BE49-F238E27FC236}">
                <a16:creationId xmlns:a16="http://schemas.microsoft.com/office/drawing/2014/main" id="{96C3A40D-73CB-4688-A9D7-2D167D590978}"/>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17／19</a:t>
            </a:r>
          </a:p>
        </p:txBody>
      </p:sp>
    </p:spTree>
    <p:extLst>
      <p:ext uri="{BB962C8B-B14F-4D97-AF65-F5344CB8AC3E}">
        <p14:creationId xmlns:p14="http://schemas.microsoft.com/office/powerpoint/2010/main" val="701220785"/>
      </p:ext>
    </p:extLst>
  </p:cSld>
</p:sld>
</file>

<file path=ppt/slides/slide1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607CA2-F124-4811-AA59-2C683832B0F1}"/>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07　作文選讀</a:t>
            </a:r>
          </a:p>
        </p:txBody>
      </p:sp>
      <p:sp>
        <p:nvSpPr>
          <p:cNvPr id="2" name="">
            <a:extLst xmlns:a="http://schemas.openxmlformats.org/drawingml/2006/main">
              <a:ext uri="{FF2B5EF4-FFF2-40B4-BE49-F238E27FC236}">
                <a16:creationId xmlns:a16="http://schemas.microsoft.com/office/drawing/2014/main" id="{40878879-84D9-4CEE-9A94-30877ABF9178}"/>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作文原文（2／2）</a:t>
            </a:r>
          </a:p>
        </p:txBody>
      </p:sp>
      <p:sp>
        <p:nvSpPr>
          <p:cNvPr id="3" name="">
            <a:extLst xmlns:a="http://schemas.openxmlformats.org/drawingml/2006/main">
              <a:ext uri="{FF2B5EF4-FFF2-40B4-BE49-F238E27FC236}">
                <a16:creationId xmlns:a16="http://schemas.microsoft.com/office/drawing/2014/main" id="{CCDD206B-E215-47BA-82FD-FD94A4724D7E}"/>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原稿題目</a:t>
            </a:r>
          </a:p>
        </p:txBody>
      </p:sp>
      <p:sp>
        <p:nvSpPr>
          <p:cNvPr id="4" name="">
            <a:extLst xmlns:a="http://schemas.openxmlformats.org/drawingml/2006/main">
              <a:ext uri="{FF2B5EF4-FFF2-40B4-BE49-F238E27FC236}">
                <a16:creationId xmlns:a16="http://schemas.microsoft.com/office/drawing/2014/main" id="{1966B13D-E1CC-42E3-852F-91DAD15F2603}"/>
              </a:ext>
            </a:extLst>
          </p:cNvPr>
          <p:cNvSpPr>
            <a:spLocks xmlns:a="http://schemas.openxmlformats.org/drawingml/2006/main" noGrp="1"/>
          </p:cNvSpPr>
          <p:nvPr/>
        </p:nvSpPr>
        <p:spPr>
          <a:xfrm xmlns:a="http://schemas.openxmlformats.org/drawingml/2006/main">
            <a:off x="609600" y="2162175"/>
            <a:ext cx="10972800" cy="433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33441"/>
                </a:solidFill>
                <a:latin typeface="Arial Unicode MS"/>
                <a:ea typeface="Arial Unicode MS"/>
                <a:cs typeface="Arial Unicode MS"/>
              </a:defRPr>
            </a:defPPr>
          </a:lstStyle>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我最喜歡的故人物：楊修</a:t>
            </a:r>
          </a:p>
        </p:txBody>
      </p:sp>
      <p:sp>
        <p:nvSpPr>
          <p:cNvPr id="5" name="">
            <a:extLst xmlns:a="http://schemas.openxmlformats.org/drawingml/2006/main">
              <a:ext uri="{FF2B5EF4-FFF2-40B4-BE49-F238E27FC236}">
                <a16:creationId xmlns:a16="http://schemas.microsoft.com/office/drawing/2014/main" id="{1F6DA006-2802-422F-B864-6ABD1394048F}"/>
              </a:ext>
            </a:extLst>
          </p:cNvPr>
          <p:cNvSpPr>
            <a:spLocks xmlns:a="http://schemas.openxmlformats.org/drawingml/2006/main" noGrp="1"/>
          </p:cNvSpPr>
          <p:nvPr/>
        </p:nvSpPr>
        <p:spPr>
          <a:xfrm xmlns:a="http://schemas.openxmlformats.org/drawingml/2006/main">
            <a:off x="609600" y="2786063"/>
            <a:ext cx="10972800" cy="2347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33441"/>
                </a:solidFill>
                <a:latin typeface="Arial Unicode MS"/>
                <a:ea typeface="Arial Unicode MS"/>
                <a:cs typeface="Arial Unicode MS"/>
              </a:defRPr>
            </a:defPPr>
          </a:lstStyle>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最令我欣賞的是這個事件，曹操曾經建造一個花園。建成後，曹操前去觀看，既不讚揚，也不指出缺</a:t>
            </a:r>
          </a:p>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點，只是拿筆在門上上上一個「活」字便走了，眾人都不明白他的意思。楊修說：「門內加個『活』字</a:t>
            </a:r>
          </a:p>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便是闊字，正相嫌花園的門太闊了。」眾人於是再修建牆圍，改造妥當後，又請曹操來觀看。曹操非常</a:t>
            </a:r>
          </a:p>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高興。這件事楊修再次展現了他的才智。</a:t>
            </a:r>
          </a:p>
          <a:p xmlns:a="http://schemas.openxmlformats.org/drawingml/2006/main">
            <a:r>
              <a:t/>
            </a:r>
          </a:p>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楊修雖然最後以恃才放曠的罪名被斬首了但是我也是十分尊敬他的才智，他也讓我明白到才智是不能亂</a:t>
            </a:r>
          </a:p>
          <a:p xmlns:a="http://schemas.openxmlformats.org/drawingml/2006/main">
            <a:pPr>
              <a:defRPr sz="1875" b="0">
                <a:solidFill>
                  <a:srgbClr val="233441"/>
                </a:solidFill>
                <a:latin typeface="Arial Unicode MS"/>
                <a:ea typeface="Arial Unicode MS"/>
                <a:cs typeface="Arial Unicode MS"/>
              </a:defRPr>
            </a:pPr>
            <a:r>
              <a:rPr sz="1875" b="0">
                <a:solidFill>
                  <a:srgbClr val="233441"/>
                </a:solidFill>
                <a:latin typeface="Arial Unicode MS"/>
                <a:ea typeface="Arial Unicode MS"/>
                <a:cs typeface="Arial Unicode MS"/>
              </a:rPr>
              <a:t>用。</a:t>
            </a:r>
          </a:p>
        </p:txBody>
      </p:sp>
      <p:sp>
        <p:nvSpPr>
          <p:cNvPr id="6" name="">
            <a:extLst xmlns:a="http://schemas.openxmlformats.org/drawingml/2006/main">
              <a:ext uri="{FF2B5EF4-FFF2-40B4-BE49-F238E27FC236}">
                <a16:creationId xmlns:a16="http://schemas.microsoft.com/office/drawing/2014/main" id="{CB0141AE-4492-4186-BBB8-611BD2B3A277}"/>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7" name="">
            <a:extLst xmlns:a="http://schemas.openxmlformats.org/drawingml/2006/main">
              <a:ext uri="{FF2B5EF4-FFF2-40B4-BE49-F238E27FC236}">
                <a16:creationId xmlns:a16="http://schemas.microsoft.com/office/drawing/2014/main" id="{9D5FE15B-338B-4F28-9839-23F555018208}"/>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18／19</a:t>
            </a:r>
          </a:p>
        </p:txBody>
      </p:sp>
    </p:spTree>
    <p:extLst>
      <p:ext uri="{BB962C8B-B14F-4D97-AF65-F5344CB8AC3E}">
        <p14:creationId xmlns:p14="http://schemas.microsoft.com/office/powerpoint/2010/main" val="2015436940"/>
      </p:ext>
    </p:extLst>
  </p:cSld>
</p:sld>
</file>

<file path=ppt/slides/slide1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2A8DE4-9907-403E-8BE5-70C9EFAC00ED}"/>
              </a:ext>
            </a:extLst>
          </p:cNvPr>
          <p:cNvSpPr>
            <a:spLocks xmlns:a="http://schemas.openxmlformats.org/drawingml/2006/main" noGrp="1"/>
          </p:cNvSpPr>
          <p:nvPr/>
        </p:nvSpPr>
        <p:spPr>
          <a:xfrm xmlns:a="http://schemas.openxmlformats.org/drawingml/2006/main">
            <a:off x="609600" y="333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26D73"/>
                </a:solidFill>
                <a:latin typeface="Arial Unicode MS"/>
                <a:ea typeface="Arial Unicode MS"/>
                <a:cs typeface="Arial Unicode MS"/>
              </a:defRPr>
            </a:defPPr>
          </a:lstStyle>
          <a:p xmlns:a="http://schemas.openxmlformats.org/drawingml/2006/main">
            <a:pPr>
              <a:defRPr sz="1500" b="0">
                <a:solidFill>
                  <a:srgbClr val="126D73"/>
                </a:solidFill>
                <a:latin typeface="Arial Unicode MS"/>
                <a:ea typeface="Arial Unicode MS"/>
                <a:cs typeface="Arial Unicode MS"/>
              </a:defRPr>
            </a:pPr>
            <a:r>
              <a:rPr sz="1500" b="0">
                <a:solidFill>
                  <a:srgbClr val="126D73"/>
                </a:solidFill>
                <a:latin typeface="Arial Unicode MS"/>
                <a:ea typeface="Arial Unicode MS"/>
                <a:cs typeface="Arial Unicode MS"/>
              </a:rPr>
              <a:t>07　作文選讀</a:t>
            </a:r>
          </a:p>
        </p:txBody>
      </p:sp>
      <p:sp>
        <p:nvSpPr>
          <p:cNvPr id="2" name="">
            <a:extLst xmlns:a="http://schemas.openxmlformats.org/drawingml/2006/main">
              <a:ext uri="{FF2B5EF4-FFF2-40B4-BE49-F238E27FC236}">
                <a16:creationId xmlns:a16="http://schemas.microsoft.com/office/drawing/2014/main" id="{B14FE15A-ABF8-45CF-9D5B-C952F7EA5E58}"/>
              </a:ext>
            </a:extLst>
          </p:cNvPr>
          <p:cNvSpPr>
            <a:spLocks xmlns:a="http://schemas.openxmlformats.org/drawingml/2006/main" noGrp="1"/>
          </p:cNvSpPr>
          <p:nvPr/>
        </p:nvSpPr>
        <p:spPr>
          <a:xfrm xmlns:a="http://schemas.openxmlformats.org/drawingml/2006/main">
            <a:off x="609600" y="876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33441"/>
                </a:solidFill>
                <a:latin typeface="Arial Unicode MS"/>
                <a:ea typeface="Arial Unicode MS"/>
                <a:cs typeface="Arial Unicode MS"/>
              </a:defRPr>
            </a:defPPr>
          </a:lstStyle>
          <a:p xmlns:a="http://schemas.openxmlformats.org/drawingml/2006/main">
            <a:pPr>
              <a:defRPr sz="3150" b="0">
                <a:solidFill>
                  <a:srgbClr val="233441"/>
                </a:solidFill>
                <a:latin typeface="Arial Unicode MS"/>
                <a:ea typeface="Arial Unicode MS"/>
                <a:cs typeface="Arial Unicode MS"/>
              </a:defRPr>
            </a:pPr>
            <a:r>
              <a:rPr sz="3150" b="0">
                <a:solidFill>
                  <a:srgbClr val="233441"/>
                </a:solidFill>
                <a:latin typeface="Arial Unicode MS"/>
                <a:ea typeface="Arial Unicode MS"/>
                <a:cs typeface="Arial Unicode MS"/>
              </a:rPr>
              <a:t>選讀重點</a:t>
            </a:r>
          </a:p>
        </p:txBody>
      </p:sp>
      <p:sp>
        <p:nvSpPr>
          <p:cNvPr id="3" name="">
            <a:extLst xmlns:a="http://schemas.openxmlformats.org/drawingml/2006/main">
              <a:ext uri="{FF2B5EF4-FFF2-40B4-BE49-F238E27FC236}">
                <a16:creationId xmlns:a16="http://schemas.microsoft.com/office/drawing/2014/main" id="{2A7C8113-D9F0-425B-8190-F5090D37D3B0}"/>
              </a:ext>
            </a:extLst>
          </p:cNvPr>
          <p:cNvSpPr>
            <a:spLocks xmlns:a="http://schemas.openxmlformats.org/drawingml/2006/main" noGrp="1"/>
          </p:cNvSpPr>
          <p:nvPr/>
        </p:nvSpPr>
        <p:spPr>
          <a:xfrm xmlns:a="http://schemas.openxmlformats.org/drawingml/2006/main">
            <a:off x="609600" y="17526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值得學習的地方</a:t>
            </a:r>
          </a:p>
        </p:txBody>
      </p:sp>
      <p:sp>
        <p:nvSpPr>
          <p:cNvPr id="4" name="">
            <a:extLst xmlns:a="http://schemas.openxmlformats.org/drawingml/2006/main">
              <a:ext uri="{FF2B5EF4-FFF2-40B4-BE49-F238E27FC236}">
                <a16:creationId xmlns:a16="http://schemas.microsoft.com/office/drawing/2014/main" id="{D5F103CD-D5A5-478D-B3DD-05DD5955D503}"/>
              </a:ext>
            </a:extLst>
          </p:cNvPr>
          <p:cNvSpPr>
            <a:spLocks xmlns:a="http://schemas.openxmlformats.org/drawingml/2006/main" noGrp="1"/>
          </p:cNvSpPr>
          <p:nvPr/>
        </p:nvSpPr>
        <p:spPr>
          <a:xfrm xmlns:a="http://schemas.openxmlformats.org/drawingml/2006/main">
            <a:off x="609600" y="2162175"/>
            <a:ext cx="10972800" cy="11864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寫作對象明確，能交代楊修及其故事出處。</a:t>
            </a:r>
          </a:p>
          <a:p xmlns:a="http://schemas.openxmlformats.org/drawingml/2006/main">
            <a:r>
              <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選取的情節均與楊修的才智相關，人物核心特質較突出。</a:t>
            </a:r>
          </a:p>
        </p:txBody>
      </p:sp>
      <p:sp>
        <p:nvSpPr>
          <p:cNvPr id="5" name="">
            <a:extLst xmlns:a="http://schemas.openxmlformats.org/drawingml/2006/main">
              <a:ext uri="{FF2B5EF4-FFF2-40B4-BE49-F238E27FC236}">
                <a16:creationId xmlns:a16="http://schemas.microsoft.com/office/drawing/2014/main" id="{962852FC-AA54-46F9-99BD-8E232442169E}"/>
              </a:ext>
            </a:extLst>
          </p:cNvPr>
          <p:cNvSpPr>
            <a:spLocks xmlns:a="http://schemas.openxmlformats.org/drawingml/2006/main" noGrp="1"/>
          </p:cNvSpPr>
          <p:nvPr/>
        </p:nvSpPr>
        <p:spPr>
          <a:xfrm xmlns:a="http://schemas.openxmlformats.org/drawingml/2006/main">
            <a:off x="609600" y="3539109"/>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73"/>
                </a:solidFill>
                <a:latin typeface="Arial Unicode MS"/>
                <a:ea typeface="Arial Unicode MS"/>
                <a:cs typeface="Arial Unicode MS"/>
              </a:defRPr>
            </a:defPPr>
          </a:lstStyle>
          <a:p xmlns:a="http://schemas.openxmlformats.org/drawingml/2006/main">
            <a:pPr>
              <a:defRPr sz="1725" b="1">
                <a:solidFill>
                  <a:srgbClr val="126D73"/>
                </a:solidFill>
                <a:latin typeface="Arial Unicode MS"/>
                <a:ea typeface="Arial Unicode MS"/>
                <a:cs typeface="Arial Unicode MS"/>
              </a:defRPr>
            </a:pPr>
            <a:r>
              <a:rPr sz="1725" b="1">
                <a:solidFill>
                  <a:srgbClr val="126D73"/>
                </a:solidFill>
                <a:latin typeface="Arial Unicode MS"/>
                <a:ea typeface="Arial Unicode MS"/>
                <a:cs typeface="Arial Unicode MS"/>
              </a:rPr>
              <a:t>可以改進的地方</a:t>
            </a:r>
          </a:p>
        </p:txBody>
      </p:sp>
      <p:sp>
        <p:nvSpPr>
          <p:cNvPr id="6" name="">
            <a:extLst xmlns:a="http://schemas.openxmlformats.org/drawingml/2006/main">
              <a:ext uri="{FF2B5EF4-FFF2-40B4-BE49-F238E27FC236}">
                <a16:creationId xmlns:a16="http://schemas.microsoft.com/office/drawing/2014/main" id="{CC9274BA-A3CA-4BE4-9104-B7610902E881}"/>
              </a:ext>
            </a:extLst>
          </p:cNvPr>
          <p:cNvSpPr>
            <a:spLocks xmlns:a="http://schemas.openxmlformats.org/drawingml/2006/main" noGrp="1"/>
          </p:cNvSpPr>
          <p:nvPr/>
        </p:nvSpPr>
        <p:spPr>
          <a:xfrm xmlns:a="http://schemas.openxmlformats.org/drawingml/2006/main">
            <a:off x="609600" y="3948684"/>
            <a:ext cx="10972800" cy="1901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441"/>
                </a:solidFill>
                <a:latin typeface="Arial Unicode MS"/>
                <a:ea typeface="Arial Unicode MS"/>
                <a:cs typeface="Arial Unicode MS"/>
              </a:defRPr>
            </a:defPPr>
          </a:lstStyle>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從三個相近事例中精選兩個，分別承擔「突出才智」和「深化性格」的功能，避免重複堆</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砌。</a:t>
            </a:r>
          </a:p>
          <a:p xmlns:a="http://schemas.openxmlformats.org/drawingml/2006/main">
            <a:r>
              <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每個事例後補寫分析，指出楊修如何從字義或情境推斷曹操心意，以及這種才智同時反映了</a:t>
            </a:r>
          </a:p>
          <a:p xmlns:a="http://schemas.openxmlformats.org/drawingml/2006/main">
            <a:pPr>
              <a:defRPr sz="2100" b="0">
                <a:solidFill>
                  <a:srgbClr val="233441"/>
                </a:solidFill>
                <a:latin typeface="Arial Unicode MS"/>
                <a:ea typeface="Arial Unicode MS"/>
                <a:cs typeface="Arial Unicode MS"/>
              </a:defRPr>
            </a:pPr>
            <a:r>
              <a:rPr sz="2100" b="0">
                <a:solidFill>
                  <a:srgbClr val="233441"/>
                </a:solidFill>
                <a:latin typeface="Arial Unicode MS"/>
                <a:ea typeface="Arial Unicode MS"/>
                <a:cs typeface="Arial Unicode MS"/>
              </a:rPr>
              <a:t>甚麼性格。</a:t>
            </a:r>
          </a:p>
        </p:txBody>
      </p:sp>
      <p:sp>
        <p:nvSpPr>
          <p:cNvPr id="7" name="">
            <a:extLst xmlns:a="http://schemas.openxmlformats.org/drawingml/2006/main">
              <a:ext uri="{FF2B5EF4-FFF2-40B4-BE49-F238E27FC236}">
                <a16:creationId xmlns:a16="http://schemas.microsoft.com/office/drawing/2014/main" id="{8CCF0AAF-5337-466E-87FA-69C46AF1B265}"/>
              </a:ext>
            </a:extLst>
          </p:cNvPr>
          <p:cNvSpPr>
            <a:spLocks xmlns:a="http://schemas.openxmlformats.org/drawingml/2006/main" noGrp="1"/>
          </p:cNvSpPr>
          <p:nvPr/>
        </p:nvSpPr>
        <p:spPr>
          <a:xfrm xmlns:a="http://schemas.openxmlformats.org/drawingml/2006/main">
            <a:off x="6096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中文科寫作｜課堂講評</a:t>
            </a:r>
          </a:p>
        </p:txBody>
      </p:sp>
      <p:sp>
        <p:nvSpPr>
          <p:cNvPr id="8" name="">
            <a:extLst xmlns:a="http://schemas.openxmlformats.org/drawingml/2006/main">
              <a:ext uri="{FF2B5EF4-FFF2-40B4-BE49-F238E27FC236}">
                <a16:creationId xmlns:a16="http://schemas.microsoft.com/office/drawing/2014/main" id="{E3949AA6-4CDA-4CAE-AF6A-715CDF1279E6}"/>
              </a:ext>
            </a:extLst>
          </p:cNvPr>
          <p:cNvSpPr>
            <a:spLocks xmlns:a="http://schemas.openxmlformats.org/drawingml/2006/main" noGrp="1"/>
          </p:cNvSpPr>
          <p:nvPr/>
        </p:nvSpPr>
        <p:spPr>
          <a:xfrm xmlns:a="http://schemas.openxmlformats.org/drawingml/2006/main">
            <a:off x="10620375" y="6448425"/>
            <a:ext cx="9620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67680"/>
                </a:solidFill>
                <a:latin typeface="Arial Unicode MS"/>
                <a:ea typeface="Arial Unicode MS"/>
                <a:cs typeface="Arial Unicode MS"/>
              </a:defRPr>
            </a:defPPr>
          </a:lstStyle>
          <a:p xmlns:a="http://schemas.openxmlformats.org/drawingml/2006/main">
            <a:pPr>
              <a:defRPr sz="1200" b="0">
                <a:solidFill>
                  <a:srgbClr val="667680"/>
                </a:solidFill>
                <a:latin typeface="Arial Unicode MS"/>
                <a:ea typeface="Arial Unicode MS"/>
                <a:cs typeface="Arial Unicode MS"/>
              </a:defRPr>
            </a:pPr>
            <a:r>
              <a:rPr sz="1200" b="0">
                <a:solidFill>
                  <a:srgbClr val="667680"/>
                </a:solidFill>
                <a:latin typeface="Arial Unicode MS"/>
                <a:ea typeface="Arial Unicode MS"/>
                <a:cs typeface="Arial Unicode MS"/>
              </a:rPr>
              <a:t>19／19</a:t>
            </a:r>
          </a:p>
        </p:txBody>
      </p:sp>
    </p:spTree>
    <p:extLst>
      <p:ext uri="{BB962C8B-B14F-4D97-AF65-F5344CB8AC3E}">
        <p14:creationId xmlns:p14="http://schemas.microsoft.com/office/powerpoint/2010/main" val="19554481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2026-10-12T13:52:56.4670000Z</dcterms:created>
  <dcterms:modified xsi:type="dcterms:W3CDTF">2026-10-12T13:52:56.4670000Z</dcterms:modified>
</coreProperties>
</file>